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embedTrueTypeFonts="1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y="10287000" cx="18288000"/>
  <p:notesSz cx="6858000" cy="9144000"/>
  <p:embeddedFontLst>
    <p:embeddedFont>
      <p:font typeface="Kingred Modern" panose="00000000000000000000" charset="1"/>
      <p:regular r:id="rId15"/>
    </p:embeddedFont>
    <p:embeddedFont>
      <p:font typeface="Helvetica World" panose="020B0500040000020004" charset="1"/>
      <p:regular r:id="rId16"/>
    </p:embeddedFont>
  </p:embeddedFontLst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tableStyles" Target="tableStyles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8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808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8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8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8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1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52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75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75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5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66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7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6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1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82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7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8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8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8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79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9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9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9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9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9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9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79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9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5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758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5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0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01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02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0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80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0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0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71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772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7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77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7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77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7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77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8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0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6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6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76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6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jpeg"/><Relationship Id="rId10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10.jpeg"/><Relationship Id="rId10" Type="http://schemas.openxmlformats.org/officeDocument/2006/relationships/image" Target="../media/image11.jpeg"/><Relationship Id="rId1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12.jpeg"/><Relationship Id="rId10" Type="http://schemas.openxmlformats.org/officeDocument/2006/relationships/image" Target="../media/image13.jpeg"/><Relationship Id="rId11" Type="http://schemas.openxmlformats.org/officeDocument/2006/relationships/image" Target="../media/image14.jpeg"/><Relationship Id="rId12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15.jpeg"/><Relationship Id="rId10" Type="http://schemas.openxmlformats.org/officeDocument/2006/relationships/image" Target="../media/image16.jpeg"/><Relationship Id="rId11" Type="http://schemas.openxmlformats.org/officeDocument/2006/relationships/image" Target="../media/image17.jpeg"/><Relationship Id="rId12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18.jpeg"/><Relationship Id="rId10" Type="http://schemas.openxmlformats.org/officeDocument/2006/relationships/image" Target="../media/image19.jpeg"/><Relationship Id="rId11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slideLayout" Target="../slideLayouts/slideLayout7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Freeform 2"/>
          <p:cNvSpPr/>
          <p:nvPr/>
        </p:nvSpPr>
        <p:spPr>
          <a:xfrm rot="0" flipH="0" flipV="0">
            <a:off x="0" y="0"/>
            <a:ext cx="18288000" cy="10287000"/>
          </a:xfrm>
          <a:custGeom>
            <a:avLst/>
            <a:ah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-38888" r="0" b="-38888"/>
            </a:stretch>
          </a:blipFill>
        </p:spPr>
      </p:sp>
      <p:sp>
        <p:nvSpPr>
          <p:cNvPr id="1048585" name="Freeform 3"/>
          <p:cNvSpPr/>
          <p:nvPr/>
        </p:nvSpPr>
        <p:spPr>
          <a:xfrm rot="-5400000" flipH="0" flipV="0">
            <a:off x="12802904" y="9019220"/>
            <a:ext cx="3465428" cy="3943588"/>
          </a:xfrm>
          <a:custGeom>
            <a:avLst/>
            <a:ahLst/>
            <a:rect l="l" t="t" r="r" b="b"/>
            <a:pathLst>
              <a:path w="3465428" h="3943588">
                <a:moveTo>
                  <a:pt x="0" y="0"/>
                </a:moveTo>
                <a:lnTo>
                  <a:pt x="3465428" y="0"/>
                </a:lnTo>
                <a:lnTo>
                  <a:pt x="3465428" y="3943588"/>
                </a:lnTo>
                <a:lnTo>
                  <a:pt x="0" y="3943588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2"/>
            <a:stretch>
              <a:fillRect l="0" t="0" r="0" b="0"/>
            </a:stretch>
          </a:blipFill>
        </p:spPr>
      </p:sp>
      <p:sp>
        <p:nvSpPr>
          <p:cNvPr id="1048586" name="Freeform 4"/>
          <p:cNvSpPr/>
          <p:nvPr/>
        </p:nvSpPr>
        <p:spPr>
          <a:xfrm rot="0" flipH="0" flipV="0">
            <a:off x="15563882" y="8045750"/>
            <a:ext cx="3390836" cy="3132284"/>
          </a:xfrm>
          <a:custGeom>
            <a:avLst/>
            <a:ahLst/>
            <a:rect l="l" t="t" r="r" b="b"/>
            <a:pathLst>
              <a:path w="3390836" h="3132284">
                <a:moveTo>
                  <a:pt x="0" y="0"/>
                </a:moveTo>
                <a:lnTo>
                  <a:pt x="3390836" y="0"/>
                </a:lnTo>
                <a:lnTo>
                  <a:pt x="3390836" y="3132285"/>
                </a:lnTo>
                <a:lnTo>
                  <a:pt x="0" y="3132285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3"/>
            <a:stretch>
              <a:fillRect l="0" t="0" r="0" b="0"/>
            </a:stretch>
          </a:blipFill>
        </p:spPr>
      </p:sp>
      <p:sp>
        <p:nvSpPr>
          <p:cNvPr id="1048587" name="Freeform 5"/>
          <p:cNvSpPr/>
          <p:nvPr/>
        </p:nvSpPr>
        <p:spPr>
          <a:xfrm rot="735098" flipH="0" flipV="0">
            <a:off x="17012790" y="5558490"/>
            <a:ext cx="2550420" cy="2355951"/>
          </a:xfrm>
          <a:custGeom>
            <a:avLst/>
            <a:ahLst/>
            <a:rect l="l" t="t" r="r" b="b"/>
            <a:pathLst>
              <a:path w="2550420" h="2355951">
                <a:moveTo>
                  <a:pt x="0" y="0"/>
                </a:moveTo>
                <a:lnTo>
                  <a:pt x="2550420" y="0"/>
                </a:lnTo>
                <a:lnTo>
                  <a:pt x="2550420" y="2355951"/>
                </a:lnTo>
                <a:lnTo>
                  <a:pt x="0" y="2355951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3"/>
            <a:stretch>
              <a:fillRect l="0" t="0" r="0" b="0"/>
            </a:stretch>
          </a:blipFill>
        </p:spPr>
      </p:sp>
      <p:sp>
        <p:nvSpPr>
          <p:cNvPr id="1048588" name="Freeform 6"/>
          <p:cNvSpPr/>
          <p:nvPr/>
        </p:nvSpPr>
        <p:spPr>
          <a:xfrm rot="3880940" flipH="1" flipV="0">
            <a:off x="-859658" y="693803"/>
            <a:ext cx="3227254" cy="4927105"/>
          </a:xfrm>
          <a:custGeom>
            <a:avLst/>
            <a:ahLst/>
            <a:rect l="l" t="t" r="r" b="b"/>
            <a:pathLst>
              <a:path w="3227254" h="4927105">
                <a:moveTo>
                  <a:pt x="3227254" y="0"/>
                </a:moveTo>
                <a:lnTo>
                  <a:pt x="0" y="0"/>
                </a:lnTo>
                <a:lnTo>
                  <a:pt x="0" y="4927105"/>
                </a:lnTo>
                <a:lnTo>
                  <a:pt x="3227254" y="4927105"/>
                </a:lnTo>
                <a:lnTo>
                  <a:pt x="3227254" y="0"/>
                </a:lnTo>
                <a:close/>
              </a:path>
            </a:pathLst>
          </a:custGeom>
          <a:blipFill>
            <a:blip xmlns:r="http://schemas.openxmlformats.org/officeDocument/2006/relationships" r:embed="rId4"/>
            <a:stretch>
              <a:fillRect l="0" t="0" r="0" b="0"/>
            </a:stretch>
          </a:blipFill>
        </p:spPr>
      </p:sp>
      <p:sp>
        <p:nvSpPr>
          <p:cNvPr id="1048589" name="Freeform 7"/>
          <p:cNvSpPr/>
          <p:nvPr/>
        </p:nvSpPr>
        <p:spPr>
          <a:xfrm rot="2700000" flipH="1" flipV="0">
            <a:off x="-367506" y="-2305346"/>
            <a:ext cx="1826987" cy="4610693"/>
          </a:xfrm>
          <a:custGeom>
            <a:avLst/>
            <a:ahLst/>
            <a:rect l="l" t="t" r="r" b="b"/>
            <a:pathLst>
              <a:path w="1826987" h="4610693">
                <a:moveTo>
                  <a:pt x="1826987" y="0"/>
                </a:moveTo>
                <a:lnTo>
                  <a:pt x="0" y="0"/>
                </a:lnTo>
                <a:lnTo>
                  <a:pt x="0" y="4610692"/>
                </a:lnTo>
                <a:lnTo>
                  <a:pt x="1826987" y="4610692"/>
                </a:lnTo>
                <a:lnTo>
                  <a:pt x="1826987" y="0"/>
                </a:lnTo>
                <a:close/>
              </a:path>
            </a:pathLst>
          </a:custGeom>
          <a:blipFill>
            <a:blip xmlns:r="http://schemas.openxmlformats.org/officeDocument/2006/relationships" r:embed="rId5"/>
            <a:stretch>
              <a:fillRect l="0" t="0" r="0" b="0"/>
            </a:stretch>
          </a:blipFill>
        </p:spPr>
      </p:sp>
      <p:sp>
        <p:nvSpPr>
          <p:cNvPr id="1048590" name="Freeform 8"/>
          <p:cNvSpPr/>
          <p:nvPr/>
        </p:nvSpPr>
        <p:spPr>
          <a:xfrm rot="8862344" flipH="0" flipV="0">
            <a:off x="2042299" y="-3686438"/>
            <a:ext cx="5543601" cy="5399367"/>
          </a:xfrm>
          <a:custGeom>
            <a:avLst/>
            <a:ahLst/>
            <a:rect l="l" t="t" r="r" b="b"/>
            <a:pathLst>
              <a:path w="5543601" h="5399367">
                <a:moveTo>
                  <a:pt x="0" y="0"/>
                </a:moveTo>
                <a:lnTo>
                  <a:pt x="5543601" y="0"/>
                </a:lnTo>
                <a:lnTo>
                  <a:pt x="5543601" y="5399367"/>
                </a:lnTo>
                <a:lnTo>
                  <a:pt x="0" y="5399367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6"/>
            <a:stretch>
              <a:fillRect l="0" t="0" r="0" b="0"/>
            </a:stretch>
          </a:blipFill>
        </p:spPr>
      </p:sp>
      <p:sp>
        <p:nvSpPr>
          <p:cNvPr id="1048591" name="Freeform 9"/>
          <p:cNvSpPr/>
          <p:nvPr/>
        </p:nvSpPr>
        <p:spPr>
          <a:xfrm rot="0" flipH="0" flipV="0">
            <a:off x="11233907" y="-4481194"/>
            <a:ext cx="8550234" cy="8229600"/>
          </a:xfrm>
          <a:custGeom>
            <a:avLst/>
            <a:ahLst/>
            <a:rect l="l" t="t" r="r" b="b"/>
            <a:pathLst>
              <a:path w="8550234" h="8229600">
                <a:moveTo>
                  <a:pt x="0" y="0"/>
                </a:moveTo>
                <a:lnTo>
                  <a:pt x="8550233" y="0"/>
                </a:lnTo>
                <a:lnTo>
                  <a:pt x="855023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7"/>
            <a:stretch>
              <a:fillRect l="0" t="0" r="0" b="0"/>
            </a:stretch>
          </a:blipFill>
        </p:spPr>
      </p:sp>
      <p:sp>
        <p:nvSpPr>
          <p:cNvPr id="1048592" name="Freeform 10"/>
          <p:cNvSpPr/>
          <p:nvPr/>
        </p:nvSpPr>
        <p:spPr>
          <a:xfrm rot="0" flipH="0" flipV="0">
            <a:off x="-3054723" y="7063235"/>
            <a:ext cx="8550234" cy="8229600"/>
          </a:xfrm>
          <a:custGeom>
            <a:avLst/>
            <a:ahLst/>
            <a:rect l="l" t="t" r="r" b="b"/>
            <a:pathLst>
              <a:path w="8550234" h="8229600">
                <a:moveTo>
                  <a:pt x="0" y="0"/>
                </a:moveTo>
                <a:lnTo>
                  <a:pt x="8550234" y="0"/>
                </a:lnTo>
                <a:lnTo>
                  <a:pt x="855023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7"/>
            <a:stretch>
              <a:fillRect l="0" t="0" r="0" b="0"/>
            </a:stretch>
          </a:blipFill>
        </p:spPr>
      </p:sp>
      <p:sp>
        <p:nvSpPr>
          <p:cNvPr id="1048593" name="Freeform 11"/>
          <p:cNvSpPr/>
          <p:nvPr/>
        </p:nvSpPr>
        <p:spPr>
          <a:xfrm rot="0" flipH="0" flipV="0">
            <a:off x="-256763" y="7383999"/>
            <a:ext cx="3651885" cy="8229600"/>
          </a:xfrm>
          <a:custGeom>
            <a:avLst/>
            <a:ahLst/>
            <a:rect l="l" t="t" r="r" b="b"/>
            <a:pathLst>
              <a:path w="3651885" h="8229600">
                <a:moveTo>
                  <a:pt x="0" y="0"/>
                </a:moveTo>
                <a:lnTo>
                  <a:pt x="3651885" y="0"/>
                </a:lnTo>
                <a:lnTo>
                  <a:pt x="365188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8"/>
            <a:stretch>
              <a:fillRect l="0" t="0" r="0" b="0"/>
            </a:stretch>
          </a:blipFill>
        </p:spPr>
      </p:sp>
      <p:sp>
        <p:nvSpPr>
          <p:cNvPr id="1048594" name="Freeform 12"/>
          <p:cNvSpPr/>
          <p:nvPr/>
        </p:nvSpPr>
        <p:spPr>
          <a:xfrm rot="0" flipH="0" flipV="1">
            <a:off x="14301621" y="-5072245"/>
            <a:ext cx="3651885" cy="8229600"/>
          </a:xfrm>
          <a:custGeom>
            <a:avLst/>
            <a:ahLst/>
            <a:rect l="l" t="t" r="r" b="b"/>
            <a:pathLst>
              <a:path w="3651885" h="8229600">
                <a:moveTo>
                  <a:pt x="0" y="8229600"/>
                </a:moveTo>
                <a:lnTo>
                  <a:pt x="3651885" y="8229600"/>
                </a:lnTo>
                <a:lnTo>
                  <a:pt x="3651885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xmlns:r="http://schemas.openxmlformats.org/officeDocument/2006/relationships" r:embed="rId8"/>
            <a:stretch>
              <a:fillRect l="0" t="0" r="0" b="0"/>
            </a:stretch>
          </a:blipFill>
        </p:spPr>
      </p:sp>
      <p:sp>
        <p:nvSpPr>
          <p:cNvPr id="1048595" name="Freeform 13"/>
          <p:cNvSpPr/>
          <p:nvPr/>
        </p:nvSpPr>
        <p:spPr>
          <a:xfrm rot="0" flipH="0" flipV="0">
            <a:off x="4270305" y="4919723"/>
            <a:ext cx="4928554" cy="4928554"/>
          </a:xfrm>
          <a:custGeom>
            <a:avLst/>
            <a:ahLst/>
            <a:rect l="l" t="t" r="r" b="b"/>
            <a:pathLst>
              <a:path w="4928554" h="4928554">
                <a:moveTo>
                  <a:pt x="0" y="0"/>
                </a:moveTo>
                <a:lnTo>
                  <a:pt x="4928554" y="0"/>
                </a:lnTo>
                <a:lnTo>
                  <a:pt x="4928554" y="4928553"/>
                </a:lnTo>
                <a:lnTo>
                  <a:pt x="0" y="4928553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9"/>
            <a:stretch>
              <a:fillRect l="0" t="0" r="0" b="0"/>
            </a:stretch>
          </a:blipFill>
        </p:spPr>
      </p:sp>
      <p:sp>
        <p:nvSpPr>
          <p:cNvPr id="1048596" name="TextBox 14"/>
          <p:cNvSpPr txBox="1"/>
          <p:nvPr/>
        </p:nvSpPr>
        <p:spPr>
          <a:xfrm rot="0">
            <a:off x="2833835" y="1679086"/>
            <a:ext cx="12730047" cy="1433322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11286"/>
              </a:lnSpc>
            </a:pPr>
            <a:r>
              <a:rPr sz="8061" lang="en-US">
                <a:solidFill>
                  <a:srgbClr val="6E4823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SMART VEHICLE BATTERY </a:t>
            </a:r>
          </a:p>
        </p:txBody>
      </p:sp>
      <p:sp>
        <p:nvSpPr>
          <p:cNvPr id="1048597" name="TextBox 15"/>
          <p:cNvSpPr txBox="1"/>
          <p:nvPr/>
        </p:nvSpPr>
        <p:spPr>
          <a:xfrm rot="0">
            <a:off x="7504764" y="5918362"/>
            <a:ext cx="10783236" cy="3372104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6638"/>
              </a:lnSpc>
            </a:pPr>
            <a:r>
              <a:rPr sz="4742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            Presented by                       </a:t>
            </a:r>
          </a:p>
          <a:p>
            <a:pPr algn="ctr">
              <a:lnSpc>
                <a:spcPts val="6638"/>
              </a:lnSpc>
            </a:pPr>
            <a:r>
              <a:rPr sz="4742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sz="4742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sz="4742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sz="4742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sz="4742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sz="4742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sz="4742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sz="4742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sz="4742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sz="4742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sz="4742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sz="4742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sz="4742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sz="4742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sz="4742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sz="4742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sz="4742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sz="4742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Mohan R</a:t>
            </a:r>
            <a:endParaRPr altLang="en-US" lang="zh-CN"/>
          </a:p>
          <a:p>
            <a:pPr algn="ctr">
              <a:lnSpc>
                <a:spcPts val="6638"/>
              </a:lnSpc>
            </a:pPr>
          </a:p>
          <a:p>
            <a:pPr algn="ctr">
              <a:lnSpc>
                <a:spcPts val="663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Freeform 2"/>
          <p:cNvSpPr/>
          <p:nvPr/>
        </p:nvSpPr>
        <p:spPr>
          <a:xfrm rot="0" flipH="0" flipV="0">
            <a:off x="0" y="0"/>
            <a:ext cx="18288000" cy="10287000"/>
          </a:xfrm>
          <a:custGeom>
            <a:avLst/>
            <a:ah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-38888" r="0" b="-38888"/>
            </a:stretch>
          </a:blipFill>
        </p:spPr>
      </p:sp>
      <p:sp>
        <p:nvSpPr>
          <p:cNvPr id="1048599" name="Freeform 3"/>
          <p:cNvSpPr/>
          <p:nvPr/>
        </p:nvSpPr>
        <p:spPr>
          <a:xfrm rot="-5400000" flipH="0" flipV="0">
            <a:off x="13683459" y="9258300"/>
            <a:ext cx="2902990" cy="3303545"/>
          </a:xfrm>
          <a:custGeom>
            <a:avLst/>
            <a:ahLst/>
            <a:rect l="l" t="t" r="r" b="b"/>
            <a:pathLst>
              <a:path w="2902990" h="3303545">
                <a:moveTo>
                  <a:pt x="0" y="0"/>
                </a:moveTo>
                <a:lnTo>
                  <a:pt x="2902990" y="0"/>
                </a:lnTo>
                <a:lnTo>
                  <a:pt x="2902990" y="3303545"/>
                </a:lnTo>
                <a:lnTo>
                  <a:pt x="0" y="3303545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2"/>
            <a:stretch>
              <a:fillRect l="0" t="0" r="0" b="0"/>
            </a:stretch>
          </a:blipFill>
        </p:spPr>
      </p:sp>
      <p:sp>
        <p:nvSpPr>
          <p:cNvPr id="1048600" name="Freeform 4"/>
          <p:cNvSpPr/>
          <p:nvPr/>
        </p:nvSpPr>
        <p:spPr>
          <a:xfrm rot="0" flipH="0" flipV="0">
            <a:off x="15996331" y="8442824"/>
            <a:ext cx="2840504" cy="2623915"/>
          </a:xfrm>
          <a:custGeom>
            <a:avLst/>
            <a:ahLst/>
            <a:rect l="l" t="t" r="r" b="b"/>
            <a:pathLst>
              <a:path w="2840504" h="2623915">
                <a:moveTo>
                  <a:pt x="0" y="0"/>
                </a:moveTo>
                <a:lnTo>
                  <a:pt x="2840504" y="0"/>
                </a:lnTo>
                <a:lnTo>
                  <a:pt x="2840504" y="2623916"/>
                </a:lnTo>
                <a:lnTo>
                  <a:pt x="0" y="2623916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3"/>
            <a:stretch>
              <a:fillRect l="0" t="0" r="0" b="0"/>
            </a:stretch>
          </a:blipFill>
        </p:spPr>
      </p:sp>
      <p:sp>
        <p:nvSpPr>
          <p:cNvPr id="1048601" name="Freeform 5"/>
          <p:cNvSpPr/>
          <p:nvPr/>
        </p:nvSpPr>
        <p:spPr>
          <a:xfrm rot="735098" flipH="0" flipV="0">
            <a:off x="17210081" y="6359246"/>
            <a:ext cx="2136488" cy="1973581"/>
          </a:xfrm>
          <a:custGeom>
            <a:avLst/>
            <a:ahLst/>
            <a:rect l="l" t="t" r="r" b="b"/>
            <a:pathLst>
              <a:path w="2136488" h="1973581">
                <a:moveTo>
                  <a:pt x="0" y="0"/>
                </a:moveTo>
                <a:lnTo>
                  <a:pt x="2136488" y="0"/>
                </a:lnTo>
                <a:lnTo>
                  <a:pt x="2136488" y="1973581"/>
                </a:lnTo>
                <a:lnTo>
                  <a:pt x="0" y="1973581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3"/>
            <a:stretch>
              <a:fillRect l="0" t="0" r="0" b="0"/>
            </a:stretch>
          </a:blipFill>
        </p:spPr>
      </p:sp>
      <p:sp>
        <p:nvSpPr>
          <p:cNvPr id="1048602" name="Freeform 6"/>
          <p:cNvSpPr/>
          <p:nvPr/>
        </p:nvSpPr>
        <p:spPr>
          <a:xfrm rot="3880940" flipH="1" flipV="0">
            <a:off x="-1435362" y="779145"/>
            <a:ext cx="2769800" cy="4228703"/>
          </a:xfrm>
          <a:custGeom>
            <a:avLst/>
            <a:ahLst/>
            <a:rect l="l" t="t" r="r" b="b"/>
            <a:pathLst>
              <a:path w="2769800" h="4228703">
                <a:moveTo>
                  <a:pt x="2769800" y="0"/>
                </a:moveTo>
                <a:lnTo>
                  <a:pt x="0" y="0"/>
                </a:lnTo>
                <a:lnTo>
                  <a:pt x="0" y="4228703"/>
                </a:lnTo>
                <a:lnTo>
                  <a:pt x="2769800" y="4228703"/>
                </a:lnTo>
                <a:lnTo>
                  <a:pt x="2769800" y="0"/>
                </a:lnTo>
                <a:close/>
              </a:path>
            </a:pathLst>
          </a:custGeom>
          <a:blipFill>
            <a:blip xmlns:r="http://schemas.openxmlformats.org/officeDocument/2006/relationships" r:embed="rId4"/>
            <a:stretch>
              <a:fillRect l="0" t="0" r="0" b="0"/>
            </a:stretch>
          </a:blipFill>
        </p:spPr>
      </p:sp>
      <p:sp>
        <p:nvSpPr>
          <p:cNvPr id="1048603" name="Freeform 7"/>
          <p:cNvSpPr/>
          <p:nvPr/>
        </p:nvSpPr>
        <p:spPr>
          <a:xfrm rot="2700000" flipH="1" flipV="0">
            <a:off x="-1012971" y="-1794883"/>
            <a:ext cx="1568017" cy="3957141"/>
          </a:xfrm>
          <a:custGeom>
            <a:avLst/>
            <a:ahLst/>
            <a:rect l="l" t="t" r="r" b="b"/>
            <a:pathLst>
              <a:path w="1568017" h="3957141">
                <a:moveTo>
                  <a:pt x="1568017" y="0"/>
                </a:moveTo>
                <a:lnTo>
                  <a:pt x="0" y="0"/>
                </a:lnTo>
                <a:lnTo>
                  <a:pt x="0" y="3957140"/>
                </a:lnTo>
                <a:lnTo>
                  <a:pt x="1568017" y="3957140"/>
                </a:lnTo>
                <a:lnTo>
                  <a:pt x="1568017" y="0"/>
                </a:lnTo>
                <a:close/>
              </a:path>
            </a:pathLst>
          </a:custGeom>
          <a:blipFill>
            <a:blip xmlns:r="http://schemas.openxmlformats.org/officeDocument/2006/relationships" r:embed="rId5"/>
            <a:stretch>
              <a:fillRect l="0" t="0" r="0" b="0"/>
            </a:stretch>
          </a:blipFill>
        </p:spPr>
      </p:sp>
      <p:sp>
        <p:nvSpPr>
          <p:cNvPr id="1048604" name="Freeform 8"/>
          <p:cNvSpPr/>
          <p:nvPr/>
        </p:nvSpPr>
        <p:spPr>
          <a:xfrm rot="8862344" flipH="0" flipV="0">
            <a:off x="1055251" y="-2980210"/>
            <a:ext cx="4757812" cy="4634023"/>
          </a:xfrm>
          <a:custGeom>
            <a:avLst/>
            <a:ahLst/>
            <a:rect l="l" t="t" r="r" b="b"/>
            <a:pathLst>
              <a:path w="4757812" h="4634023">
                <a:moveTo>
                  <a:pt x="0" y="0"/>
                </a:moveTo>
                <a:lnTo>
                  <a:pt x="4757812" y="0"/>
                </a:lnTo>
                <a:lnTo>
                  <a:pt x="4757812" y="4634023"/>
                </a:lnTo>
                <a:lnTo>
                  <a:pt x="0" y="4634023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6"/>
            <a:stretch>
              <a:fillRect l="0" t="0" r="0" b="0"/>
            </a:stretch>
          </a:blipFill>
        </p:spPr>
      </p:sp>
      <p:sp>
        <p:nvSpPr>
          <p:cNvPr id="1048605" name="Freeform 9"/>
          <p:cNvSpPr/>
          <p:nvPr/>
        </p:nvSpPr>
        <p:spPr>
          <a:xfrm rot="0" flipH="0" flipV="0">
            <a:off x="12897254" y="-4151298"/>
            <a:ext cx="7220316" cy="6949554"/>
          </a:xfrm>
          <a:custGeom>
            <a:avLst/>
            <a:ahLst/>
            <a:rect l="l" t="t" r="r" b="b"/>
            <a:pathLst>
              <a:path w="7220316" h="6949554">
                <a:moveTo>
                  <a:pt x="0" y="0"/>
                </a:moveTo>
                <a:lnTo>
                  <a:pt x="7220316" y="0"/>
                </a:lnTo>
                <a:lnTo>
                  <a:pt x="7220316" y="6949554"/>
                </a:lnTo>
                <a:lnTo>
                  <a:pt x="0" y="694955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7"/>
            <a:stretch>
              <a:fillRect l="0" t="0" r="0" b="0"/>
            </a:stretch>
          </a:blipFill>
        </p:spPr>
      </p:sp>
      <p:sp>
        <p:nvSpPr>
          <p:cNvPr id="1048606" name="Freeform 10"/>
          <p:cNvSpPr/>
          <p:nvPr/>
        </p:nvSpPr>
        <p:spPr>
          <a:xfrm rot="0" flipH="0" flipV="0">
            <a:off x="-2956983" y="7717344"/>
            <a:ext cx="7467517" cy="7187485"/>
          </a:xfrm>
          <a:custGeom>
            <a:avLst/>
            <a:ahLst/>
            <a:rect l="l" t="t" r="r" b="b"/>
            <a:pathLst>
              <a:path w="7467517" h="7187485">
                <a:moveTo>
                  <a:pt x="0" y="0"/>
                </a:moveTo>
                <a:lnTo>
                  <a:pt x="7467516" y="0"/>
                </a:lnTo>
                <a:lnTo>
                  <a:pt x="7467516" y="7187484"/>
                </a:lnTo>
                <a:lnTo>
                  <a:pt x="0" y="718748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7"/>
            <a:stretch>
              <a:fillRect l="0" t="0" r="0" b="0"/>
            </a:stretch>
          </a:blipFill>
        </p:spPr>
      </p:sp>
      <p:sp>
        <p:nvSpPr>
          <p:cNvPr id="1048607" name="Freeform 11"/>
          <p:cNvSpPr/>
          <p:nvPr/>
        </p:nvSpPr>
        <p:spPr>
          <a:xfrm rot="0" flipH="0" flipV="0">
            <a:off x="-513330" y="7997490"/>
            <a:ext cx="3189446" cy="7187485"/>
          </a:xfrm>
          <a:custGeom>
            <a:avLst/>
            <a:ahLst/>
            <a:rect l="l" t="t" r="r" b="b"/>
            <a:pathLst>
              <a:path w="3189446" h="7187485">
                <a:moveTo>
                  <a:pt x="0" y="0"/>
                </a:moveTo>
                <a:lnTo>
                  <a:pt x="3189447" y="0"/>
                </a:lnTo>
                <a:lnTo>
                  <a:pt x="3189447" y="7187484"/>
                </a:lnTo>
                <a:lnTo>
                  <a:pt x="0" y="718748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8"/>
            <a:stretch>
              <a:fillRect l="0" t="0" r="0" b="0"/>
            </a:stretch>
          </a:blipFill>
        </p:spPr>
      </p:sp>
      <p:sp>
        <p:nvSpPr>
          <p:cNvPr id="1048608" name="Freeform 12"/>
          <p:cNvSpPr/>
          <p:nvPr/>
        </p:nvSpPr>
        <p:spPr>
          <a:xfrm rot="0" flipH="0" flipV="1">
            <a:off x="15487811" y="-4650415"/>
            <a:ext cx="3083865" cy="6949554"/>
          </a:xfrm>
          <a:custGeom>
            <a:avLst/>
            <a:ahLst/>
            <a:rect l="l" t="t" r="r" b="b"/>
            <a:pathLst>
              <a:path w="3083865" h="6949554">
                <a:moveTo>
                  <a:pt x="0" y="6949554"/>
                </a:moveTo>
                <a:lnTo>
                  <a:pt x="3083865" y="6949554"/>
                </a:lnTo>
                <a:lnTo>
                  <a:pt x="3083865" y="0"/>
                </a:lnTo>
                <a:lnTo>
                  <a:pt x="0" y="0"/>
                </a:lnTo>
                <a:lnTo>
                  <a:pt x="0" y="6949554"/>
                </a:lnTo>
                <a:close/>
              </a:path>
            </a:pathLst>
          </a:custGeom>
          <a:blipFill>
            <a:blip xmlns:r="http://schemas.openxmlformats.org/officeDocument/2006/relationships" r:embed="rId8"/>
            <a:stretch>
              <a:fillRect l="0" t="0" r="0" b="0"/>
            </a:stretch>
          </a:blipFill>
        </p:spPr>
      </p:sp>
      <p:sp>
        <p:nvSpPr>
          <p:cNvPr id="1048609" name="Freeform 13"/>
          <p:cNvSpPr/>
          <p:nvPr/>
        </p:nvSpPr>
        <p:spPr>
          <a:xfrm rot="0" flipH="0" flipV="0">
            <a:off x="2996811" y="6193592"/>
            <a:ext cx="3597801" cy="3607795"/>
          </a:xfrm>
          <a:custGeom>
            <a:avLst/>
            <a:ahLst/>
            <a:rect l="l" t="t" r="r" b="b"/>
            <a:pathLst>
              <a:path w="3597801" h="3607795">
                <a:moveTo>
                  <a:pt x="0" y="0"/>
                </a:moveTo>
                <a:lnTo>
                  <a:pt x="3597801" y="0"/>
                </a:lnTo>
                <a:lnTo>
                  <a:pt x="3597801" y="3607795"/>
                </a:lnTo>
                <a:lnTo>
                  <a:pt x="0" y="3607795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9"/>
            <a:stretch>
              <a:fillRect l="0" t="0" r="0" b="0"/>
            </a:stretch>
          </a:blipFill>
        </p:spPr>
      </p:sp>
      <p:sp>
        <p:nvSpPr>
          <p:cNvPr id="1048610" name="Freeform 14"/>
          <p:cNvSpPr/>
          <p:nvPr/>
        </p:nvSpPr>
        <p:spPr>
          <a:xfrm rot="0" flipH="0" flipV="0">
            <a:off x="11285536" y="6034287"/>
            <a:ext cx="5221876" cy="3680698"/>
          </a:xfrm>
          <a:custGeom>
            <a:avLst/>
            <a:ahLst/>
            <a:rect l="l" t="t" r="r" b="b"/>
            <a:pathLst>
              <a:path w="5221876" h="3680698">
                <a:moveTo>
                  <a:pt x="0" y="0"/>
                </a:moveTo>
                <a:lnTo>
                  <a:pt x="5221876" y="0"/>
                </a:lnTo>
                <a:lnTo>
                  <a:pt x="5221876" y="3680697"/>
                </a:lnTo>
                <a:lnTo>
                  <a:pt x="0" y="3680697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0"/>
            <a:stretch>
              <a:fillRect l="0" t="0" r="0" b="0"/>
            </a:stretch>
          </a:blipFill>
        </p:spPr>
      </p:sp>
      <p:sp>
        <p:nvSpPr>
          <p:cNvPr id="1048611" name="TextBox 15"/>
          <p:cNvSpPr txBox="1"/>
          <p:nvPr/>
        </p:nvSpPr>
        <p:spPr>
          <a:xfrm rot="0">
            <a:off x="4795711" y="565991"/>
            <a:ext cx="9791436" cy="1546479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12177"/>
              </a:lnSpc>
            </a:pPr>
            <a:r>
              <a:rPr sz="8698" lang="en-US">
                <a:solidFill>
                  <a:srgbClr val="6E4823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INTRODUCTION </a:t>
            </a:r>
          </a:p>
        </p:txBody>
      </p:sp>
      <p:sp>
        <p:nvSpPr>
          <p:cNvPr id="1048612" name="TextBox 16"/>
          <p:cNvSpPr txBox="1"/>
          <p:nvPr/>
        </p:nvSpPr>
        <p:spPr>
          <a:xfrm rot="0">
            <a:off x="295905" y="651716"/>
            <a:ext cx="14839050" cy="5509133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6197"/>
              </a:lnSpc>
            </a:pPr>
          </a:p>
          <a:p>
            <a:pPr algn="ctr">
              <a:lnSpc>
                <a:spcPts val="6197"/>
              </a:lnSpc>
            </a:pPr>
          </a:p>
          <a:p>
            <a:pPr algn="ctr">
              <a:lnSpc>
                <a:spcPts val="6197"/>
              </a:lnSpc>
            </a:pPr>
            <a:r>
              <a:rPr sz="442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#The world is going eco friendly. </a:t>
            </a:r>
          </a:p>
          <a:p>
            <a:pPr algn="ctr">
              <a:lnSpc>
                <a:spcPts val="6197"/>
              </a:lnSpc>
            </a:pPr>
            <a:r>
              <a:rPr sz="442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#</a:t>
            </a:r>
            <a:r>
              <a:rPr sz="442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Electrical bikes are using lithium ion battery</a:t>
            </a:r>
          </a:p>
          <a:p>
            <a:pPr algn="ctr">
              <a:lnSpc>
                <a:spcPts val="6197"/>
              </a:lnSpc>
            </a:pPr>
            <a:r>
              <a:rPr sz="442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#</a:t>
            </a:r>
            <a:r>
              <a:rPr sz="442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Smart grid system use.</a:t>
            </a:r>
          </a:p>
          <a:p>
            <a:pPr algn="ctr">
              <a:lnSpc>
                <a:spcPts val="6197"/>
              </a:lnSpc>
              <a:spcBef>
                <a:spcPct val="0"/>
              </a:spcBef>
            </a:pPr>
            <a:r>
              <a:rPr sz="442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#</a:t>
            </a:r>
            <a:r>
              <a:rPr sz="4426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It is reduced the temperature, increase the life time and low power consuming.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Freeform 2"/>
          <p:cNvSpPr/>
          <p:nvPr/>
        </p:nvSpPr>
        <p:spPr>
          <a:xfrm rot="0" flipH="0" flipV="0">
            <a:off x="0" y="0"/>
            <a:ext cx="18288000" cy="10287000"/>
          </a:xfrm>
          <a:custGeom>
            <a:avLst/>
            <a:ah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-38888" r="0" b="-38888"/>
            </a:stretch>
          </a:blipFill>
        </p:spPr>
      </p:sp>
      <p:sp>
        <p:nvSpPr>
          <p:cNvPr id="1048614" name="Freeform 3"/>
          <p:cNvSpPr/>
          <p:nvPr/>
        </p:nvSpPr>
        <p:spPr>
          <a:xfrm rot="-5400000" flipH="0" flipV="0">
            <a:off x="13683459" y="9258300"/>
            <a:ext cx="2902990" cy="3303545"/>
          </a:xfrm>
          <a:custGeom>
            <a:avLst/>
            <a:ahLst/>
            <a:rect l="l" t="t" r="r" b="b"/>
            <a:pathLst>
              <a:path w="2902990" h="3303545">
                <a:moveTo>
                  <a:pt x="0" y="0"/>
                </a:moveTo>
                <a:lnTo>
                  <a:pt x="2902990" y="0"/>
                </a:lnTo>
                <a:lnTo>
                  <a:pt x="2902990" y="3303545"/>
                </a:lnTo>
                <a:lnTo>
                  <a:pt x="0" y="3303545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2"/>
            <a:stretch>
              <a:fillRect l="0" t="0" r="0" b="0"/>
            </a:stretch>
          </a:blipFill>
        </p:spPr>
      </p:sp>
      <p:sp>
        <p:nvSpPr>
          <p:cNvPr id="1048615" name="Freeform 4"/>
          <p:cNvSpPr/>
          <p:nvPr/>
        </p:nvSpPr>
        <p:spPr>
          <a:xfrm rot="0" flipH="0" flipV="0">
            <a:off x="15996331" y="8442824"/>
            <a:ext cx="2840504" cy="2623915"/>
          </a:xfrm>
          <a:custGeom>
            <a:avLst/>
            <a:ahLst/>
            <a:rect l="l" t="t" r="r" b="b"/>
            <a:pathLst>
              <a:path w="2840504" h="2623915">
                <a:moveTo>
                  <a:pt x="0" y="0"/>
                </a:moveTo>
                <a:lnTo>
                  <a:pt x="2840504" y="0"/>
                </a:lnTo>
                <a:lnTo>
                  <a:pt x="2840504" y="2623916"/>
                </a:lnTo>
                <a:lnTo>
                  <a:pt x="0" y="2623916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3"/>
            <a:stretch>
              <a:fillRect l="0" t="0" r="0" b="0"/>
            </a:stretch>
          </a:blipFill>
        </p:spPr>
      </p:sp>
      <p:sp>
        <p:nvSpPr>
          <p:cNvPr id="1048616" name="Freeform 5"/>
          <p:cNvSpPr/>
          <p:nvPr/>
        </p:nvSpPr>
        <p:spPr>
          <a:xfrm rot="735098" flipH="0" flipV="0">
            <a:off x="17210081" y="6359246"/>
            <a:ext cx="2136488" cy="1973581"/>
          </a:xfrm>
          <a:custGeom>
            <a:avLst/>
            <a:ahLst/>
            <a:rect l="l" t="t" r="r" b="b"/>
            <a:pathLst>
              <a:path w="2136488" h="1973581">
                <a:moveTo>
                  <a:pt x="0" y="0"/>
                </a:moveTo>
                <a:lnTo>
                  <a:pt x="2136488" y="0"/>
                </a:lnTo>
                <a:lnTo>
                  <a:pt x="2136488" y="1973581"/>
                </a:lnTo>
                <a:lnTo>
                  <a:pt x="0" y="1973581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3"/>
            <a:stretch>
              <a:fillRect l="0" t="0" r="0" b="0"/>
            </a:stretch>
          </a:blipFill>
        </p:spPr>
      </p:sp>
      <p:sp>
        <p:nvSpPr>
          <p:cNvPr id="1048617" name="Freeform 6"/>
          <p:cNvSpPr/>
          <p:nvPr/>
        </p:nvSpPr>
        <p:spPr>
          <a:xfrm rot="3880940" flipH="1" flipV="0">
            <a:off x="-1435362" y="779145"/>
            <a:ext cx="2769800" cy="4228703"/>
          </a:xfrm>
          <a:custGeom>
            <a:avLst/>
            <a:ahLst/>
            <a:rect l="l" t="t" r="r" b="b"/>
            <a:pathLst>
              <a:path w="2769800" h="4228703">
                <a:moveTo>
                  <a:pt x="2769800" y="0"/>
                </a:moveTo>
                <a:lnTo>
                  <a:pt x="0" y="0"/>
                </a:lnTo>
                <a:lnTo>
                  <a:pt x="0" y="4228703"/>
                </a:lnTo>
                <a:lnTo>
                  <a:pt x="2769800" y="4228703"/>
                </a:lnTo>
                <a:lnTo>
                  <a:pt x="2769800" y="0"/>
                </a:lnTo>
                <a:close/>
              </a:path>
            </a:pathLst>
          </a:custGeom>
          <a:blipFill>
            <a:blip xmlns:r="http://schemas.openxmlformats.org/officeDocument/2006/relationships" r:embed="rId4"/>
            <a:stretch>
              <a:fillRect l="0" t="0" r="0" b="0"/>
            </a:stretch>
          </a:blipFill>
        </p:spPr>
      </p:sp>
      <p:sp>
        <p:nvSpPr>
          <p:cNvPr id="1048618" name="Freeform 7"/>
          <p:cNvSpPr/>
          <p:nvPr/>
        </p:nvSpPr>
        <p:spPr>
          <a:xfrm rot="2700000" flipH="1" flipV="0">
            <a:off x="-1012971" y="-1794883"/>
            <a:ext cx="1568017" cy="3957141"/>
          </a:xfrm>
          <a:custGeom>
            <a:avLst/>
            <a:ahLst/>
            <a:rect l="l" t="t" r="r" b="b"/>
            <a:pathLst>
              <a:path w="1568017" h="3957141">
                <a:moveTo>
                  <a:pt x="1568017" y="0"/>
                </a:moveTo>
                <a:lnTo>
                  <a:pt x="0" y="0"/>
                </a:lnTo>
                <a:lnTo>
                  <a:pt x="0" y="3957140"/>
                </a:lnTo>
                <a:lnTo>
                  <a:pt x="1568017" y="3957140"/>
                </a:lnTo>
                <a:lnTo>
                  <a:pt x="1568017" y="0"/>
                </a:lnTo>
                <a:close/>
              </a:path>
            </a:pathLst>
          </a:custGeom>
          <a:blipFill>
            <a:blip xmlns:r="http://schemas.openxmlformats.org/officeDocument/2006/relationships" r:embed="rId5"/>
            <a:stretch>
              <a:fillRect l="0" t="0" r="0" b="0"/>
            </a:stretch>
          </a:blipFill>
        </p:spPr>
      </p:sp>
      <p:sp>
        <p:nvSpPr>
          <p:cNvPr id="1048619" name="Freeform 8"/>
          <p:cNvSpPr/>
          <p:nvPr/>
        </p:nvSpPr>
        <p:spPr>
          <a:xfrm rot="8862344" flipH="0" flipV="0">
            <a:off x="1055251" y="-2980210"/>
            <a:ext cx="4757812" cy="4634023"/>
          </a:xfrm>
          <a:custGeom>
            <a:avLst/>
            <a:ahLst/>
            <a:rect l="l" t="t" r="r" b="b"/>
            <a:pathLst>
              <a:path w="4757812" h="4634023">
                <a:moveTo>
                  <a:pt x="0" y="0"/>
                </a:moveTo>
                <a:lnTo>
                  <a:pt x="4757812" y="0"/>
                </a:lnTo>
                <a:lnTo>
                  <a:pt x="4757812" y="4634023"/>
                </a:lnTo>
                <a:lnTo>
                  <a:pt x="0" y="4634023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6"/>
            <a:stretch>
              <a:fillRect l="0" t="0" r="0" b="0"/>
            </a:stretch>
          </a:blipFill>
        </p:spPr>
      </p:sp>
      <p:sp>
        <p:nvSpPr>
          <p:cNvPr id="1048620" name="Freeform 9"/>
          <p:cNvSpPr/>
          <p:nvPr/>
        </p:nvSpPr>
        <p:spPr>
          <a:xfrm rot="0" flipH="0" flipV="0">
            <a:off x="12897254" y="-4151298"/>
            <a:ext cx="7220316" cy="6949554"/>
          </a:xfrm>
          <a:custGeom>
            <a:avLst/>
            <a:ahLst/>
            <a:rect l="l" t="t" r="r" b="b"/>
            <a:pathLst>
              <a:path w="7220316" h="6949554">
                <a:moveTo>
                  <a:pt x="0" y="0"/>
                </a:moveTo>
                <a:lnTo>
                  <a:pt x="7220316" y="0"/>
                </a:lnTo>
                <a:lnTo>
                  <a:pt x="7220316" y="6949554"/>
                </a:lnTo>
                <a:lnTo>
                  <a:pt x="0" y="694955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7"/>
            <a:stretch>
              <a:fillRect l="0" t="0" r="0" b="0"/>
            </a:stretch>
          </a:blipFill>
        </p:spPr>
      </p:sp>
      <p:sp>
        <p:nvSpPr>
          <p:cNvPr id="1048621" name="Freeform 10"/>
          <p:cNvSpPr/>
          <p:nvPr/>
        </p:nvSpPr>
        <p:spPr>
          <a:xfrm rot="0" flipH="0" flipV="0">
            <a:off x="-2956983" y="7717344"/>
            <a:ext cx="7467517" cy="7187485"/>
          </a:xfrm>
          <a:custGeom>
            <a:avLst/>
            <a:ahLst/>
            <a:rect l="l" t="t" r="r" b="b"/>
            <a:pathLst>
              <a:path w="7467517" h="7187485">
                <a:moveTo>
                  <a:pt x="0" y="0"/>
                </a:moveTo>
                <a:lnTo>
                  <a:pt x="7467516" y="0"/>
                </a:lnTo>
                <a:lnTo>
                  <a:pt x="7467516" y="7187484"/>
                </a:lnTo>
                <a:lnTo>
                  <a:pt x="0" y="718748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7"/>
            <a:stretch>
              <a:fillRect l="0" t="0" r="0" b="0"/>
            </a:stretch>
          </a:blipFill>
        </p:spPr>
      </p:sp>
      <p:sp>
        <p:nvSpPr>
          <p:cNvPr id="1048622" name="Freeform 11"/>
          <p:cNvSpPr/>
          <p:nvPr/>
        </p:nvSpPr>
        <p:spPr>
          <a:xfrm rot="0" flipH="0" flipV="0">
            <a:off x="-513330" y="7997490"/>
            <a:ext cx="3189446" cy="7187485"/>
          </a:xfrm>
          <a:custGeom>
            <a:avLst/>
            <a:ahLst/>
            <a:rect l="l" t="t" r="r" b="b"/>
            <a:pathLst>
              <a:path w="3189446" h="7187485">
                <a:moveTo>
                  <a:pt x="0" y="0"/>
                </a:moveTo>
                <a:lnTo>
                  <a:pt x="3189447" y="0"/>
                </a:lnTo>
                <a:lnTo>
                  <a:pt x="3189447" y="7187484"/>
                </a:lnTo>
                <a:lnTo>
                  <a:pt x="0" y="718748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8"/>
            <a:stretch>
              <a:fillRect l="0" t="0" r="0" b="0"/>
            </a:stretch>
          </a:blipFill>
        </p:spPr>
      </p:sp>
      <p:sp>
        <p:nvSpPr>
          <p:cNvPr id="1048623" name="Freeform 12"/>
          <p:cNvSpPr/>
          <p:nvPr/>
        </p:nvSpPr>
        <p:spPr>
          <a:xfrm rot="0" flipH="0" flipV="1">
            <a:off x="15487811" y="-4650415"/>
            <a:ext cx="3083865" cy="6949554"/>
          </a:xfrm>
          <a:custGeom>
            <a:avLst/>
            <a:ahLst/>
            <a:rect l="l" t="t" r="r" b="b"/>
            <a:pathLst>
              <a:path w="3083865" h="6949554">
                <a:moveTo>
                  <a:pt x="0" y="6949554"/>
                </a:moveTo>
                <a:lnTo>
                  <a:pt x="3083865" y="6949554"/>
                </a:lnTo>
                <a:lnTo>
                  <a:pt x="3083865" y="0"/>
                </a:lnTo>
                <a:lnTo>
                  <a:pt x="0" y="0"/>
                </a:lnTo>
                <a:lnTo>
                  <a:pt x="0" y="6949554"/>
                </a:lnTo>
                <a:close/>
              </a:path>
            </a:pathLst>
          </a:custGeom>
          <a:blipFill>
            <a:blip xmlns:r="http://schemas.openxmlformats.org/officeDocument/2006/relationships" r:embed="rId8"/>
            <a:stretch>
              <a:fillRect l="0" t="0" r="0" b="0"/>
            </a:stretch>
          </a:blipFill>
        </p:spPr>
      </p:sp>
      <p:sp>
        <p:nvSpPr>
          <p:cNvPr id="1048624" name="Freeform 13"/>
          <p:cNvSpPr/>
          <p:nvPr/>
        </p:nvSpPr>
        <p:spPr>
          <a:xfrm rot="0" flipH="0" flipV="0">
            <a:off x="9758961" y="2566380"/>
            <a:ext cx="4454741" cy="2889394"/>
          </a:xfrm>
          <a:custGeom>
            <a:avLst/>
            <a:ahLst/>
            <a:rect l="l" t="t" r="r" b="b"/>
            <a:pathLst>
              <a:path w="4454741" h="2889394">
                <a:moveTo>
                  <a:pt x="0" y="0"/>
                </a:moveTo>
                <a:lnTo>
                  <a:pt x="4454741" y="0"/>
                </a:lnTo>
                <a:lnTo>
                  <a:pt x="4454741" y="2889394"/>
                </a:lnTo>
                <a:lnTo>
                  <a:pt x="0" y="288939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9"/>
            <a:stretch>
              <a:fillRect l="0" t="0" r="0" b="0"/>
            </a:stretch>
          </a:blipFill>
        </p:spPr>
      </p:sp>
      <p:sp>
        <p:nvSpPr>
          <p:cNvPr id="1048625" name="Freeform 14"/>
          <p:cNvSpPr/>
          <p:nvPr/>
        </p:nvSpPr>
        <p:spPr>
          <a:xfrm rot="0" flipH="0" flipV="0">
            <a:off x="9007518" y="6155033"/>
            <a:ext cx="3939821" cy="2675043"/>
          </a:xfrm>
          <a:custGeom>
            <a:avLst/>
            <a:ahLst/>
            <a:rect l="l" t="t" r="r" b="b"/>
            <a:pathLst>
              <a:path w="3939821" h="2675043">
                <a:moveTo>
                  <a:pt x="0" y="0"/>
                </a:moveTo>
                <a:lnTo>
                  <a:pt x="3939821" y="0"/>
                </a:lnTo>
                <a:lnTo>
                  <a:pt x="3939821" y="2675043"/>
                </a:lnTo>
                <a:lnTo>
                  <a:pt x="0" y="2675043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0"/>
            <a:stretch>
              <a:fillRect l="-5101" t="0" r="-40393" b="0"/>
            </a:stretch>
          </a:blipFill>
        </p:spPr>
      </p:sp>
      <p:sp>
        <p:nvSpPr>
          <p:cNvPr id="1048626" name="Freeform 15"/>
          <p:cNvSpPr/>
          <p:nvPr/>
        </p:nvSpPr>
        <p:spPr>
          <a:xfrm rot="0" flipH="0" flipV="0">
            <a:off x="13546556" y="5988082"/>
            <a:ext cx="3882509" cy="3008944"/>
          </a:xfrm>
          <a:custGeom>
            <a:avLst/>
            <a:ahLst/>
            <a:rect l="l" t="t" r="r" b="b"/>
            <a:pathLst>
              <a:path w="3882509" h="3008944">
                <a:moveTo>
                  <a:pt x="0" y="0"/>
                </a:moveTo>
                <a:lnTo>
                  <a:pt x="3882509" y="0"/>
                </a:lnTo>
                <a:lnTo>
                  <a:pt x="3882509" y="3008945"/>
                </a:lnTo>
                <a:lnTo>
                  <a:pt x="0" y="3008945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1"/>
            <a:stretch>
              <a:fillRect l="0" t="0" r="0" b="0"/>
            </a:stretch>
          </a:blipFill>
        </p:spPr>
      </p:sp>
      <p:sp>
        <p:nvSpPr>
          <p:cNvPr id="1048627" name="TextBox 16"/>
          <p:cNvSpPr txBox="1"/>
          <p:nvPr/>
        </p:nvSpPr>
        <p:spPr>
          <a:xfrm rot="0">
            <a:off x="3559174" y="869143"/>
            <a:ext cx="11453010" cy="1546478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12177"/>
              </a:lnSpc>
            </a:pPr>
            <a:r>
              <a:rPr sz="8698" lang="en-US">
                <a:solidFill>
                  <a:srgbClr val="6E4823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PROJECT GOALS</a:t>
            </a:r>
          </a:p>
        </p:txBody>
      </p:sp>
      <p:sp>
        <p:nvSpPr>
          <p:cNvPr id="1048628" name="TextBox 17"/>
          <p:cNvSpPr txBox="1"/>
          <p:nvPr/>
        </p:nvSpPr>
        <p:spPr>
          <a:xfrm rot="0">
            <a:off x="2423271" y="2712531"/>
            <a:ext cx="6720729" cy="1482851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5838"/>
              </a:lnSpc>
            </a:pPr>
            <a:r>
              <a:rPr sz="4170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Lithium ion battery is easy to charge but it is quickly heat</a:t>
            </a:r>
          </a:p>
        </p:txBody>
      </p:sp>
      <p:sp>
        <p:nvSpPr>
          <p:cNvPr id="1048629" name="TextBox 18"/>
          <p:cNvSpPr txBox="1"/>
          <p:nvPr/>
        </p:nvSpPr>
        <p:spPr>
          <a:xfrm rot="0">
            <a:off x="1695280" y="2788722"/>
            <a:ext cx="757761" cy="951738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7494"/>
              </a:lnSpc>
            </a:pPr>
            <a:r>
              <a:rPr sz="5353" lang="en-US">
                <a:solidFill>
                  <a:srgbClr val="6E4823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1.</a:t>
            </a:r>
          </a:p>
        </p:txBody>
      </p:sp>
      <p:sp>
        <p:nvSpPr>
          <p:cNvPr id="1048630" name="TextBox 19"/>
          <p:cNvSpPr txBox="1"/>
          <p:nvPr/>
        </p:nvSpPr>
        <p:spPr>
          <a:xfrm rot="0">
            <a:off x="2676117" y="4963827"/>
            <a:ext cx="6331401" cy="3529964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5559"/>
              </a:lnSpc>
            </a:pPr>
            <a:r>
              <a:rPr sz="397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Using smart grid system and Arduino.</a:t>
            </a:r>
          </a:p>
          <a:p>
            <a:pPr algn="l">
              <a:lnSpc>
                <a:spcPts val="5559"/>
              </a:lnSpc>
            </a:pPr>
          </a:p>
          <a:p>
            <a:pPr algn="l">
              <a:lnSpc>
                <a:spcPts val="5559"/>
              </a:lnSpc>
            </a:pPr>
            <a:r>
              <a:rPr sz="3971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It use two separate lithium ion battery.</a:t>
            </a:r>
          </a:p>
        </p:txBody>
      </p:sp>
      <p:sp>
        <p:nvSpPr>
          <p:cNvPr id="1048631" name="TextBox 20"/>
          <p:cNvSpPr txBox="1"/>
          <p:nvPr/>
        </p:nvSpPr>
        <p:spPr>
          <a:xfrm rot="0">
            <a:off x="1725050" y="4944777"/>
            <a:ext cx="698221" cy="951738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7494"/>
              </a:lnSpc>
            </a:pPr>
            <a:r>
              <a:rPr sz="5353" lang="en-US">
                <a:solidFill>
                  <a:srgbClr val="6E4823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2.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Freeform 2"/>
          <p:cNvSpPr/>
          <p:nvPr/>
        </p:nvSpPr>
        <p:spPr>
          <a:xfrm rot="0" flipH="0" flipV="0">
            <a:off x="0" y="0"/>
            <a:ext cx="18288000" cy="10287000"/>
          </a:xfrm>
          <a:custGeom>
            <a:avLst/>
            <a:ah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-38888" r="0" b="-38888"/>
            </a:stretch>
          </a:blipFill>
        </p:spPr>
      </p:sp>
      <p:sp>
        <p:nvSpPr>
          <p:cNvPr id="1048633" name="Freeform 3"/>
          <p:cNvSpPr/>
          <p:nvPr/>
        </p:nvSpPr>
        <p:spPr>
          <a:xfrm rot="-5400000" flipH="0" flipV="0">
            <a:off x="13683459" y="9258300"/>
            <a:ext cx="2902990" cy="3303545"/>
          </a:xfrm>
          <a:custGeom>
            <a:avLst/>
            <a:ahLst/>
            <a:rect l="l" t="t" r="r" b="b"/>
            <a:pathLst>
              <a:path w="2902990" h="3303545">
                <a:moveTo>
                  <a:pt x="0" y="0"/>
                </a:moveTo>
                <a:lnTo>
                  <a:pt x="2902990" y="0"/>
                </a:lnTo>
                <a:lnTo>
                  <a:pt x="2902990" y="3303545"/>
                </a:lnTo>
                <a:lnTo>
                  <a:pt x="0" y="3303545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2"/>
            <a:stretch>
              <a:fillRect l="0" t="0" r="0" b="0"/>
            </a:stretch>
          </a:blipFill>
        </p:spPr>
      </p:sp>
      <p:sp>
        <p:nvSpPr>
          <p:cNvPr id="1048634" name="Freeform 4"/>
          <p:cNvSpPr/>
          <p:nvPr/>
        </p:nvSpPr>
        <p:spPr>
          <a:xfrm rot="0" flipH="0" flipV="0">
            <a:off x="15996331" y="8442824"/>
            <a:ext cx="2840504" cy="2623915"/>
          </a:xfrm>
          <a:custGeom>
            <a:avLst/>
            <a:ahLst/>
            <a:rect l="l" t="t" r="r" b="b"/>
            <a:pathLst>
              <a:path w="2840504" h="2623915">
                <a:moveTo>
                  <a:pt x="0" y="0"/>
                </a:moveTo>
                <a:lnTo>
                  <a:pt x="2840504" y="0"/>
                </a:lnTo>
                <a:lnTo>
                  <a:pt x="2840504" y="2623916"/>
                </a:lnTo>
                <a:lnTo>
                  <a:pt x="0" y="2623916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3"/>
            <a:stretch>
              <a:fillRect l="0" t="0" r="0" b="0"/>
            </a:stretch>
          </a:blipFill>
        </p:spPr>
      </p:sp>
      <p:sp>
        <p:nvSpPr>
          <p:cNvPr id="1048635" name="Freeform 5"/>
          <p:cNvSpPr/>
          <p:nvPr/>
        </p:nvSpPr>
        <p:spPr>
          <a:xfrm rot="735098" flipH="0" flipV="0">
            <a:off x="17210081" y="6359246"/>
            <a:ext cx="2136488" cy="1973581"/>
          </a:xfrm>
          <a:custGeom>
            <a:avLst/>
            <a:ahLst/>
            <a:rect l="l" t="t" r="r" b="b"/>
            <a:pathLst>
              <a:path w="2136488" h="1973581">
                <a:moveTo>
                  <a:pt x="0" y="0"/>
                </a:moveTo>
                <a:lnTo>
                  <a:pt x="2136488" y="0"/>
                </a:lnTo>
                <a:lnTo>
                  <a:pt x="2136488" y="1973581"/>
                </a:lnTo>
                <a:lnTo>
                  <a:pt x="0" y="1973581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3"/>
            <a:stretch>
              <a:fillRect l="0" t="0" r="0" b="0"/>
            </a:stretch>
          </a:blipFill>
        </p:spPr>
      </p:sp>
      <p:sp>
        <p:nvSpPr>
          <p:cNvPr id="1048636" name="Freeform 6"/>
          <p:cNvSpPr/>
          <p:nvPr/>
        </p:nvSpPr>
        <p:spPr>
          <a:xfrm rot="3880940" flipH="1" flipV="0">
            <a:off x="-1435362" y="779145"/>
            <a:ext cx="2769800" cy="4228703"/>
          </a:xfrm>
          <a:custGeom>
            <a:avLst/>
            <a:ahLst/>
            <a:rect l="l" t="t" r="r" b="b"/>
            <a:pathLst>
              <a:path w="2769800" h="4228703">
                <a:moveTo>
                  <a:pt x="2769800" y="0"/>
                </a:moveTo>
                <a:lnTo>
                  <a:pt x="0" y="0"/>
                </a:lnTo>
                <a:lnTo>
                  <a:pt x="0" y="4228703"/>
                </a:lnTo>
                <a:lnTo>
                  <a:pt x="2769800" y="4228703"/>
                </a:lnTo>
                <a:lnTo>
                  <a:pt x="2769800" y="0"/>
                </a:lnTo>
                <a:close/>
              </a:path>
            </a:pathLst>
          </a:custGeom>
          <a:blipFill>
            <a:blip xmlns:r="http://schemas.openxmlformats.org/officeDocument/2006/relationships" r:embed="rId4"/>
            <a:stretch>
              <a:fillRect l="0" t="0" r="0" b="0"/>
            </a:stretch>
          </a:blipFill>
        </p:spPr>
      </p:sp>
      <p:sp>
        <p:nvSpPr>
          <p:cNvPr id="1048637" name="Freeform 7"/>
          <p:cNvSpPr/>
          <p:nvPr/>
        </p:nvSpPr>
        <p:spPr>
          <a:xfrm rot="2700000" flipH="1" flipV="0">
            <a:off x="-1012971" y="-1794883"/>
            <a:ext cx="1568017" cy="3957141"/>
          </a:xfrm>
          <a:custGeom>
            <a:avLst/>
            <a:ahLst/>
            <a:rect l="l" t="t" r="r" b="b"/>
            <a:pathLst>
              <a:path w="1568017" h="3957141">
                <a:moveTo>
                  <a:pt x="1568017" y="0"/>
                </a:moveTo>
                <a:lnTo>
                  <a:pt x="0" y="0"/>
                </a:lnTo>
                <a:lnTo>
                  <a:pt x="0" y="3957140"/>
                </a:lnTo>
                <a:lnTo>
                  <a:pt x="1568017" y="3957140"/>
                </a:lnTo>
                <a:lnTo>
                  <a:pt x="1568017" y="0"/>
                </a:lnTo>
                <a:close/>
              </a:path>
            </a:pathLst>
          </a:custGeom>
          <a:blipFill>
            <a:blip xmlns:r="http://schemas.openxmlformats.org/officeDocument/2006/relationships" r:embed="rId5"/>
            <a:stretch>
              <a:fillRect l="0" t="0" r="0" b="0"/>
            </a:stretch>
          </a:blipFill>
        </p:spPr>
      </p:sp>
      <p:sp>
        <p:nvSpPr>
          <p:cNvPr id="1048638" name="Freeform 8"/>
          <p:cNvSpPr/>
          <p:nvPr/>
        </p:nvSpPr>
        <p:spPr>
          <a:xfrm rot="8862344" flipH="0" flipV="0">
            <a:off x="1055251" y="-2980210"/>
            <a:ext cx="4757812" cy="4634023"/>
          </a:xfrm>
          <a:custGeom>
            <a:avLst/>
            <a:ahLst/>
            <a:rect l="l" t="t" r="r" b="b"/>
            <a:pathLst>
              <a:path w="4757812" h="4634023">
                <a:moveTo>
                  <a:pt x="0" y="0"/>
                </a:moveTo>
                <a:lnTo>
                  <a:pt x="4757812" y="0"/>
                </a:lnTo>
                <a:lnTo>
                  <a:pt x="4757812" y="4634023"/>
                </a:lnTo>
                <a:lnTo>
                  <a:pt x="0" y="4634023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6"/>
            <a:stretch>
              <a:fillRect l="0" t="0" r="0" b="0"/>
            </a:stretch>
          </a:blipFill>
        </p:spPr>
      </p:sp>
      <p:sp>
        <p:nvSpPr>
          <p:cNvPr id="1048639" name="Freeform 9"/>
          <p:cNvSpPr/>
          <p:nvPr/>
        </p:nvSpPr>
        <p:spPr>
          <a:xfrm rot="0" flipH="0" flipV="0">
            <a:off x="12897254" y="-4151298"/>
            <a:ext cx="7220316" cy="6949554"/>
          </a:xfrm>
          <a:custGeom>
            <a:avLst/>
            <a:ahLst/>
            <a:rect l="l" t="t" r="r" b="b"/>
            <a:pathLst>
              <a:path w="7220316" h="6949554">
                <a:moveTo>
                  <a:pt x="0" y="0"/>
                </a:moveTo>
                <a:lnTo>
                  <a:pt x="7220316" y="0"/>
                </a:lnTo>
                <a:lnTo>
                  <a:pt x="7220316" y="6949554"/>
                </a:lnTo>
                <a:lnTo>
                  <a:pt x="0" y="694955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7"/>
            <a:stretch>
              <a:fillRect l="0" t="0" r="0" b="0"/>
            </a:stretch>
          </a:blipFill>
        </p:spPr>
      </p:sp>
      <p:sp>
        <p:nvSpPr>
          <p:cNvPr id="1048640" name="Freeform 10"/>
          <p:cNvSpPr/>
          <p:nvPr/>
        </p:nvSpPr>
        <p:spPr>
          <a:xfrm rot="0" flipH="0" flipV="0">
            <a:off x="-2956983" y="7717344"/>
            <a:ext cx="7467517" cy="7187485"/>
          </a:xfrm>
          <a:custGeom>
            <a:avLst/>
            <a:ahLst/>
            <a:rect l="l" t="t" r="r" b="b"/>
            <a:pathLst>
              <a:path w="7467517" h="7187485">
                <a:moveTo>
                  <a:pt x="0" y="0"/>
                </a:moveTo>
                <a:lnTo>
                  <a:pt x="7467516" y="0"/>
                </a:lnTo>
                <a:lnTo>
                  <a:pt x="7467516" y="7187484"/>
                </a:lnTo>
                <a:lnTo>
                  <a:pt x="0" y="718748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7"/>
            <a:stretch>
              <a:fillRect l="0" t="0" r="0" b="0"/>
            </a:stretch>
          </a:blipFill>
        </p:spPr>
      </p:sp>
      <p:sp>
        <p:nvSpPr>
          <p:cNvPr id="1048641" name="Freeform 11"/>
          <p:cNvSpPr/>
          <p:nvPr/>
        </p:nvSpPr>
        <p:spPr>
          <a:xfrm rot="0" flipH="0" flipV="0">
            <a:off x="-513330" y="7997490"/>
            <a:ext cx="3189446" cy="7187485"/>
          </a:xfrm>
          <a:custGeom>
            <a:avLst/>
            <a:ahLst/>
            <a:rect l="l" t="t" r="r" b="b"/>
            <a:pathLst>
              <a:path w="3189446" h="7187485">
                <a:moveTo>
                  <a:pt x="0" y="0"/>
                </a:moveTo>
                <a:lnTo>
                  <a:pt x="3189447" y="0"/>
                </a:lnTo>
                <a:lnTo>
                  <a:pt x="3189447" y="7187484"/>
                </a:lnTo>
                <a:lnTo>
                  <a:pt x="0" y="718748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8"/>
            <a:stretch>
              <a:fillRect l="0" t="0" r="0" b="0"/>
            </a:stretch>
          </a:blipFill>
        </p:spPr>
      </p:sp>
      <p:sp>
        <p:nvSpPr>
          <p:cNvPr id="1048642" name="Freeform 12"/>
          <p:cNvSpPr/>
          <p:nvPr/>
        </p:nvSpPr>
        <p:spPr>
          <a:xfrm rot="0" flipH="0" flipV="1">
            <a:off x="15487811" y="-4650415"/>
            <a:ext cx="3083865" cy="6949554"/>
          </a:xfrm>
          <a:custGeom>
            <a:avLst/>
            <a:ahLst/>
            <a:rect l="l" t="t" r="r" b="b"/>
            <a:pathLst>
              <a:path w="3083865" h="6949554">
                <a:moveTo>
                  <a:pt x="0" y="6949554"/>
                </a:moveTo>
                <a:lnTo>
                  <a:pt x="3083865" y="6949554"/>
                </a:lnTo>
                <a:lnTo>
                  <a:pt x="3083865" y="0"/>
                </a:lnTo>
                <a:lnTo>
                  <a:pt x="0" y="0"/>
                </a:lnTo>
                <a:lnTo>
                  <a:pt x="0" y="6949554"/>
                </a:lnTo>
                <a:close/>
              </a:path>
            </a:pathLst>
          </a:custGeom>
          <a:blipFill>
            <a:blip xmlns:r="http://schemas.openxmlformats.org/officeDocument/2006/relationships" r:embed="rId8"/>
            <a:stretch>
              <a:fillRect l="0" t="0" r="0" b="0"/>
            </a:stretch>
          </a:blipFill>
        </p:spPr>
      </p:sp>
      <p:sp>
        <p:nvSpPr>
          <p:cNvPr id="1048643" name="Freeform 13"/>
          <p:cNvSpPr/>
          <p:nvPr/>
        </p:nvSpPr>
        <p:spPr>
          <a:xfrm rot="0" flipH="0" flipV="0">
            <a:off x="2670109" y="7573990"/>
            <a:ext cx="3397161" cy="2713010"/>
          </a:xfrm>
          <a:custGeom>
            <a:avLst/>
            <a:ahLst/>
            <a:rect l="l" t="t" r="r" b="b"/>
            <a:pathLst>
              <a:path w="3397161" h="2713010">
                <a:moveTo>
                  <a:pt x="0" y="0"/>
                </a:moveTo>
                <a:lnTo>
                  <a:pt x="3397160" y="0"/>
                </a:lnTo>
                <a:lnTo>
                  <a:pt x="3397160" y="2713010"/>
                </a:lnTo>
                <a:lnTo>
                  <a:pt x="0" y="271301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9"/>
            <a:stretch>
              <a:fillRect l="0" t="0" r="0" b="0"/>
            </a:stretch>
          </a:blipFill>
        </p:spPr>
      </p:sp>
      <p:sp>
        <p:nvSpPr>
          <p:cNvPr id="1048644" name="Freeform 14"/>
          <p:cNvSpPr/>
          <p:nvPr/>
        </p:nvSpPr>
        <p:spPr>
          <a:xfrm rot="0" flipH="0" flipV="0">
            <a:off x="5718794" y="7573990"/>
            <a:ext cx="2675900" cy="2683129"/>
          </a:xfrm>
          <a:custGeom>
            <a:avLst/>
            <a:ahLst/>
            <a:rect l="l" t="t" r="r" b="b"/>
            <a:pathLst>
              <a:path w="2675900" h="2683129">
                <a:moveTo>
                  <a:pt x="0" y="0"/>
                </a:moveTo>
                <a:lnTo>
                  <a:pt x="2675900" y="0"/>
                </a:lnTo>
                <a:lnTo>
                  <a:pt x="2675900" y="2683129"/>
                </a:lnTo>
                <a:lnTo>
                  <a:pt x="0" y="2683129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0"/>
            <a:stretch>
              <a:fillRect l="0" t="-40580" r="0" b="0"/>
            </a:stretch>
          </a:blipFill>
        </p:spPr>
      </p:sp>
      <p:sp>
        <p:nvSpPr>
          <p:cNvPr id="1048645" name="Freeform 15"/>
          <p:cNvSpPr/>
          <p:nvPr/>
        </p:nvSpPr>
        <p:spPr>
          <a:xfrm rot="0" flipH="0" flipV="0">
            <a:off x="10554251" y="7250140"/>
            <a:ext cx="4933560" cy="3124588"/>
          </a:xfrm>
          <a:custGeom>
            <a:avLst/>
            <a:ahLst/>
            <a:rect l="l" t="t" r="r" b="b"/>
            <a:pathLst>
              <a:path w="4933560" h="3124588">
                <a:moveTo>
                  <a:pt x="0" y="0"/>
                </a:moveTo>
                <a:lnTo>
                  <a:pt x="4933560" y="0"/>
                </a:lnTo>
                <a:lnTo>
                  <a:pt x="4933560" y="3124587"/>
                </a:lnTo>
                <a:lnTo>
                  <a:pt x="0" y="3124587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1"/>
            <a:stretch>
              <a:fillRect l="0" t="0" r="0" b="0"/>
            </a:stretch>
          </a:blipFill>
        </p:spPr>
      </p:sp>
      <p:sp>
        <p:nvSpPr>
          <p:cNvPr id="1048646" name="TextBox 16"/>
          <p:cNvSpPr txBox="1"/>
          <p:nvPr/>
        </p:nvSpPr>
        <p:spPr>
          <a:xfrm rot="0">
            <a:off x="4034801" y="807600"/>
            <a:ext cx="11453010" cy="1546479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12177"/>
              </a:lnSpc>
            </a:pPr>
            <a:r>
              <a:rPr sz="8698" lang="en-US">
                <a:solidFill>
                  <a:srgbClr val="6E4823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DISCUSSION</a:t>
            </a:r>
          </a:p>
        </p:txBody>
      </p:sp>
      <p:sp>
        <p:nvSpPr>
          <p:cNvPr id="1048647" name="TextBox 17"/>
          <p:cNvSpPr txBox="1"/>
          <p:nvPr/>
        </p:nvSpPr>
        <p:spPr>
          <a:xfrm rot="0">
            <a:off x="2185959" y="2807772"/>
            <a:ext cx="13810372" cy="2197608"/>
          </a:xfrm>
          <a:prstGeom prst="rect"/>
        </p:spPr>
        <p:txBody>
          <a:bodyPr anchor="t" bIns="0" lIns="0" rIns="0" rtlCol="0" tIns="0">
            <a:spAutoFit/>
          </a:bodyPr>
          <a:p>
            <a:pPr algn="l" indent="-444764" lvl="1" marL="889527">
              <a:lnSpc>
                <a:spcPts val="5768"/>
              </a:lnSpc>
              <a:buFont typeface="Arial"/>
              <a:buChar char="•"/>
            </a:pPr>
            <a:r>
              <a:rPr sz="4120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battery connected to smart grid system.</a:t>
            </a:r>
          </a:p>
          <a:p>
            <a:pPr algn="l" indent="-444764" lvl="1" marL="889527">
              <a:lnSpc>
                <a:spcPts val="5768"/>
              </a:lnSpc>
              <a:buFont typeface="Arial"/>
              <a:buChar char="•"/>
            </a:pPr>
            <a:r>
              <a:rPr sz="4120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smart grid system control the what battery using in running time .</a:t>
            </a:r>
          </a:p>
        </p:txBody>
      </p:sp>
      <p:sp>
        <p:nvSpPr>
          <p:cNvPr id="1048648" name="TextBox 18"/>
          <p:cNvSpPr txBox="1"/>
          <p:nvPr/>
        </p:nvSpPr>
        <p:spPr>
          <a:xfrm rot="0">
            <a:off x="2327641" y="5076825"/>
            <a:ext cx="12134106" cy="1930908"/>
          </a:xfrm>
          <a:prstGeom prst="rect"/>
        </p:spPr>
        <p:txBody>
          <a:bodyPr anchor="t" bIns="0" lIns="0" rIns="0" rtlCol="0" tIns="0">
            <a:spAutoFit/>
          </a:bodyPr>
          <a:p>
            <a:pPr algn="l" indent="-390779" lvl="1" marL="781559">
              <a:lnSpc>
                <a:spcPts val="5068"/>
              </a:lnSpc>
              <a:buFont typeface="Arial"/>
              <a:buChar char="•"/>
            </a:pPr>
            <a:r>
              <a:rPr sz="3620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Arduino is programed in how much charge available in battery.</a:t>
            </a:r>
          </a:p>
          <a:p>
            <a:pPr algn="l" indent="-390779" lvl="1" marL="781559">
              <a:lnSpc>
                <a:spcPts val="5068"/>
              </a:lnSpc>
              <a:buFont typeface="Arial"/>
              <a:buChar char="•"/>
            </a:pPr>
            <a:r>
              <a:rPr sz="3620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Arduino is connected battery and smart grid 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Freeform 2"/>
          <p:cNvSpPr/>
          <p:nvPr/>
        </p:nvSpPr>
        <p:spPr>
          <a:xfrm rot="0" flipH="0" flipV="0">
            <a:off x="0" y="0"/>
            <a:ext cx="18288000" cy="10287000"/>
          </a:xfrm>
          <a:custGeom>
            <a:avLst/>
            <a:ah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-38888" r="0" b="-38888"/>
            </a:stretch>
          </a:blipFill>
        </p:spPr>
      </p:sp>
      <p:sp>
        <p:nvSpPr>
          <p:cNvPr id="1048650" name="Freeform 3"/>
          <p:cNvSpPr/>
          <p:nvPr/>
        </p:nvSpPr>
        <p:spPr>
          <a:xfrm rot="-5400000" flipH="0" flipV="0">
            <a:off x="13683459" y="9258300"/>
            <a:ext cx="2902990" cy="3303545"/>
          </a:xfrm>
          <a:custGeom>
            <a:avLst/>
            <a:ahLst/>
            <a:rect l="l" t="t" r="r" b="b"/>
            <a:pathLst>
              <a:path w="2902990" h="3303545">
                <a:moveTo>
                  <a:pt x="0" y="0"/>
                </a:moveTo>
                <a:lnTo>
                  <a:pt x="2902990" y="0"/>
                </a:lnTo>
                <a:lnTo>
                  <a:pt x="2902990" y="3303545"/>
                </a:lnTo>
                <a:lnTo>
                  <a:pt x="0" y="3303545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2"/>
            <a:stretch>
              <a:fillRect l="0" t="0" r="0" b="0"/>
            </a:stretch>
          </a:blipFill>
        </p:spPr>
      </p:sp>
      <p:sp>
        <p:nvSpPr>
          <p:cNvPr id="1048651" name="Freeform 4"/>
          <p:cNvSpPr/>
          <p:nvPr/>
        </p:nvSpPr>
        <p:spPr>
          <a:xfrm rot="0" flipH="0" flipV="0">
            <a:off x="15996331" y="8442824"/>
            <a:ext cx="2840504" cy="2623915"/>
          </a:xfrm>
          <a:custGeom>
            <a:avLst/>
            <a:ahLst/>
            <a:rect l="l" t="t" r="r" b="b"/>
            <a:pathLst>
              <a:path w="2840504" h="2623915">
                <a:moveTo>
                  <a:pt x="0" y="0"/>
                </a:moveTo>
                <a:lnTo>
                  <a:pt x="2840504" y="0"/>
                </a:lnTo>
                <a:lnTo>
                  <a:pt x="2840504" y="2623916"/>
                </a:lnTo>
                <a:lnTo>
                  <a:pt x="0" y="2623916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3"/>
            <a:stretch>
              <a:fillRect l="0" t="0" r="0" b="0"/>
            </a:stretch>
          </a:blipFill>
        </p:spPr>
      </p:sp>
      <p:sp>
        <p:nvSpPr>
          <p:cNvPr id="1048652" name="Freeform 5"/>
          <p:cNvSpPr/>
          <p:nvPr/>
        </p:nvSpPr>
        <p:spPr>
          <a:xfrm rot="735098" flipH="0" flipV="0">
            <a:off x="17210081" y="6359246"/>
            <a:ext cx="2136488" cy="1973581"/>
          </a:xfrm>
          <a:custGeom>
            <a:avLst/>
            <a:ahLst/>
            <a:rect l="l" t="t" r="r" b="b"/>
            <a:pathLst>
              <a:path w="2136488" h="1973581">
                <a:moveTo>
                  <a:pt x="0" y="0"/>
                </a:moveTo>
                <a:lnTo>
                  <a:pt x="2136488" y="0"/>
                </a:lnTo>
                <a:lnTo>
                  <a:pt x="2136488" y="1973581"/>
                </a:lnTo>
                <a:lnTo>
                  <a:pt x="0" y="1973581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3"/>
            <a:stretch>
              <a:fillRect l="0" t="0" r="0" b="0"/>
            </a:stretch>
          </a:blipFill>
        </p:spPr>
      </p:sp>
      <p:sp>
        <p:nvSpPr>
          <p:cNvPr id="1048653" name="Freeform 6"/>
          <p:cNvSpPr/>
          <p:nvPr/>
        </p:nvSpPr>
        <p:spPr>
          <a:xfrm rot="3880940" flipH="1" flipV="0">
            <a:off x="-1435362" y="779145"/>
            <a:ext cx="2769800" cy="4228703"/>
          </a:xfrm>
          <a:custGeom>
            <a:avLst/>
            <a:ahLst/>
            <a:rect l="l" t="t" r="r" b="b"/>
            <a:pathLst>
              <a:path w="2769800" h="4228703">
                <a:moveTo>
                  <a:pt x="2769800" y="0"/>
                </a:moveTo>
                <a:lnTo>
                  <a:pt x="0" y="0"/>
                </a:lnTo>
                <a:lnTo>
                  <a:pt x="0" y="4228703"/>
                </a:lnTo>
                <a:lnTo>
                  <a:pt x="2769800" y="4228703"/>
                </a:lnTo>
                <a:lnTo>
                  <a:pt x="2769800" y="0"/>
                </a:lnTo>
                <a:close/>
              </a:path>
            </a:pathLst>
          </a:custGeom>
          <a:blipFill>
            <a:blip xmlns:r="http://schemas.openxmlformats.org/officeDocument/2006/relationships" r:embed="rId4"/>
            <a:stretch>
              <a:fillRect l="0" t="0" r="0" b="0"/>
            </a:stretch>
          </a:blipFill>
        </p:spPr>
      </p:sp>
      <p:sp>
        <p:nvSpPr>
          <p:cNvPr id="1048654" name="Freeform 7"/>
          <p:cNvSpPr/>
          <p:nvPr/>
        </p:nvSpPr>
        <p:spPr>
          <a:xfrm rot="2700000" flipH="1" flipV="0">
            <a:off x="-1012971" y="-1794883"/>
            <a:ext cx="1568017" cy="3957141"/>
          </a:xfrm>
          <a:custGeom>
            <a:avLst/>
            <a:ahLst/>
            <a:rect l="l" t="t" r="r" b="b"/>
            <a:pathLst>
              <a:path w="1568017" h="3957141">
                <a:moveTo>
                  <a:pt x="1568017" y="0"/>
                </a:moveTo>
                <a:lnTo>
                  <a:pt x="0" y="0"/>
                </a:lnTo>
                <a:lnTo>
                  <a:pt x="0" y="3957140"/>
                </a:lnTo>
                <a:lnTo>
                  <a:pt x="1568017" y="3957140"/>
                </a:lnTo>
                <a:lnTo>
                  <a:pt x="1568017" y="0"/>
                </a:lnTo>
                <a:close/>
              </a:path>
            </a:pathLst>
          </a:custGeom>
          <a:blipFill>
            <a:blip xmlns:r="http://schemas.openxmlformats.org/officeDocument/2006/relationships" r:embed="rId5"/>
            <a:stretch>
              <a:fillRect l="0" t="0" r="0" b="0"/>
            </a:stretch>
          </a:blipFill>
        </p:spPr>
      </p:sp>
      <p:sp>
        <p:nvSpPr>
          <p:cNvPr id="1048655" name="Freeform 8"/>
          <p:cNvSpPr/>
          <p:nvPr/>
        </p:nvSpPr>
        <p:spPr>
          <a:xfrm rot="8862344" flipH="0" flipV="0">
            <a:off x="1055251" y="-2980210"/>
            <a:ext cx="4757812" cy="4634023"/>
          </a:xfrm>
          <a:custGeom>
            <a:avLst/>
            <a:ahLst/>
            <a:rect l="l" t="t" r="r" b="b"/>
            <a:pathLst>
              <a:path w="4757812" h="4634023">
                <a:moveTo>
                  <a:pt x="0" y="0"/>
                </a:moveTo>
                <a:lnTo>
                  <a:pt x="4757812" y="0"/>
                </a:lnTo>
                <a:lnTo>
                  <a:pt x="4757812" y="4634023"/>
                </a:lnTo>
                <a:lnTo>
                  <a:pt x="0" y="4634023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6"/>
            <a:stretch>
              <a:fillRect l="0" t="0" r="0" b="0"/>
            </a:stretch>
          </a:blipFill>
        </p:spPr>
      </p:sp>
      <p:sp>
        <p:nvSpPr>
          <p:cNvPr id="1048656" name="Freeform 9"/>
          <p:cNvSpPr/>
          <p:nvPr/>
        </p:nvSpPr>
        <p:spPr>
          <a:xfrm rot="0" flipH="0" flipV="0">
            <a:off x="12897254" y="-4151298"/>
            <a:ext cx="7220316" cy="6949554"/>
          </a:xfrm>
          <a:custGeom>
            <a:avLst/>
            <a:ahLst/>
            <a:rect l="l" t="t" r="r" b="b"/>
            <a:pathLst>
              <a:path w="7220316" h="6949554">
                <a:moveTo>
                  <a:pt x="0" y="0"/>
                </a:moveTo>
                <a:lnTo>
                  <a:pt x="7220316" y="0"/>
                </a:lnTo>
                <a:lnTo>
                  <a:pt x="7220316" y="6949554"/>
                </a:lnTo>
                <a:lnTo>
                  <a:pt x="0" y="694955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7"/>
            <a:stretch>
              <a:fillRect l="0" t="0" r="0" b="0"/>
            </a:stretch>
          </a:blipFill>
        </p:spPr>
      </p:sp>
      <p:sp>
        <p:nvSpPr>
          <p:cNvPr id="1048657" name="Freeform 10"/>
          <p:cNvSpPr/>
          <p:nvPr/>
        </p:nvSpPr>
        <p:spPr>
          <a:xfrm rot="0" flipH="0" flipV="0">
            <a:off x="-2956983" y="7717344"/>
            <a:ext cx="7467517" cy="7187485"/>
          </a:xfrm>
          <a:custGeom>
            <a:avLst/>
            <a:ahLst/>
            <a:rect l="l" t="t" r="r" b="b"/>
            <a:pathLst>
              <a:path w="7467517" h="7187485">
                <a:moveTo>
                  <a:pt x="0" y="0"/>
                </a:moveTo>
                <a:lnTo>
                  <a:pt x="7467516" y="0"/>
                </a:lnTo>
                <a:lnTo>
                  <a:pt x="7467516" y="7187484"/>
                </a:lnTo>
                <a:lnTo>
                  <a:pt x="0" y="718748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7"/>
            <a:stretch>
              <a:fillRect l="0" t="0" r="0" b="0"/>
            </a:stretch>
          </a:blipFill>
        </p:spPr>
      </p:sp>
      <p:sp>
        <p:nvSpPr>
          <p:cNvPr id="1048658" name="Freeform 11"/>
          <p:cNvSpPr/>
          <p:nvPr/>
        </p:nvSpPr>
        <p:spPr>
          <a:xfrm rot="0" flipH="0" flipV="0">
            <a:off x="-513330" y="7997490"/>
            <a:ext cx="3189446" cy="7187485"/>
          </a:xfrm>
          <a:custGeom>
            <a:avLst/>
            <a:ahLst/>
            <a:rect l="l" t="t" r="r" b="b"/>
            <a:pathLst>
              <a:path w="3189446" h="7187485">
                <a:moveTo>
                  <a:pt x="0" y="0"/>
                </a:moveTo>
                <a:lnTo>
                  <a:pt x="3189447" y="0"/>
                </a:lnTo>
                <a:lnTo>
                  <a:pt x="3189447" y="7187484"/>
                </a:lnTo>
                <a:lnTo>
                  <a:pt x="0" y="718748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8"/>
            <a:stretch>
              <a:fillRect l="0" t="0" r="0" b="0"/>
            </a:stretch>
          </a:blipFill>
        </p:spPr>
      </p:sp>
      <p:sp>
        <p:nvSpPr>
          <p:cNvPr id="1048659" name="Freeform 12"/>
          <p:cNvSpPr/>
          <p:nvPr/>
        </p:nvSpPr>
        <p:spPr>
          <a:xfrm rot="0" flipH="0" flipV="1">
            <a:off x="15487811" y="-4650415"/>
            <a:ext cx="3083865" cy="6949554"/>
          </a:xfrm>
          <a:custGeom>
            <a:avLst/>
            <a:ahLst/>
            <a:rect l="l" t="t" r="r" b="b"/>
            <a:pathLst>
              <a:path w="3083865" h="6949554">
                <a:moveTo>
                  <a:pt x="0" y="6949554"/>
                </a:moveTo>
                <a:lnTo>
                  <a:pt x="3083865" y="6949554"/>
                </a:lnTo>
                <a:lnTo>
                  <a:pt x="3083865" y="0"/>
                </a:lnTo>
                <a:lnTo>
                  <a:pt x="0" y="0"/>
                </a:lnTo>
                <a:lnTo>
                  <a:pt x="0" y="6949554"/>
                </a:lnTo>
                <a:close/>
              </a:path>
            </a:pathLst>
          </a:custGeom>
          <a:blipFill>
            <a:blip xmlns:r="http://schemas.openxmlformats.org/officeDocument/2006/relationships" r:embed="rId8"/>
            <a:stretch>
              <a:fillRect l="0" t="0" r="0" b="0"/>
            </a:stretch>
          </a:blipFill>
        </p:spPr>
      </p:sp>
      <p:sp>
        <p:nvSpPr>
          <p:cNvPr id="1048660" name="TextBox 13"/>
          <p:cNvSpPr txBox="1"/>
          <p:nvPr/>
        </p:nvSpPr>
        <p:spPr>
          <a:xfrm rot="0">
            <a:off x="6682987" y="209684"/>
            <a:ext cx="9085642" cy="793368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6430"/>
              </a:lnSpc>
            </a:pPr>
            <a:r>
              <a:rPr sz="4593" lang="en-US">
                <a:solidFill>
                  <a:srgbClr val="6E4823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PROGRAM FOR ARDUINO </a:t>
            </a:r>
          </a:p>
        </p:txBody>
      </p:sp>
      <p:sp>
        <p:nvSpPr>
          <p:cNvPr id="1048661" name="TextBox 14"/>
          <p:cNvSpPr txBox="1"/>
          <p:nvPr/>
        </p:nvSpPr>
        <p:spPr>
          <a:xfrm rot="0">
            <a:off x="4898981" y="587318"/>
            <a:ext cx="5775409" cy="9814814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4546"/>
              </a:lnSpc>
            </a:pPr>
            <a:r>
              <a:rPr sz="3247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def calculate_battery_level(voltage, min_voltage, max_voltage):</a:t>
            </a:r>
          </a:p>
          <a:p>
            <a:pPr algn="l">
              <a:lnSpc>
                <a:spcPts val="4546"/>
              </a:lnSpc>
            </a:pPr>
            <a:r>
              <a:rPr sz="3247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"""</a:t>
            </a:r>
          </a:p>
          <a:p>
            <a:pPr algn="l">
              <a:lnSpc>
                <a:spcPts val="4546"/>
              </a:lnSpc>
            </a:pPr>
            <a:r>
              <a:rPr sz="3247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Calculate the battery level percentage based on the battery voltage.</a:t>
            </a:r>
          </a:p>
          <a:p>
            <a:pPr algn="l">
              <a:lnSpc>
                <a:spcPts val="4546"/>
              </a:lnSpc>
            </a:pPr>
            <a:r>
              <a:rPr sz="3247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</a:t>
            </a:r>
          </a:p>
          <a:p>
            <a:pPr algn="l">
              <a:lnSpc>
                <a:spcPts val="4546"/>
              </a:lnSpc>
            </a:pPr>
            <a:r>
              <a:rPr sz="3247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Args:</a:t>
            </a:r>
          </a:p>
          <a:p>
            <a:pPr algn="l">
              <a:lnSpc>
                <a:spcPts val="4546"/>
              </a:lnSpc>
            </a:pPr>
            <a:r>
              <a:rPr sz="3247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voltage (float): The current voltage of the battery.</a:t>
            </a:r>
          </a:p>
          <a:p>
            <a:pPr algn="l">
              <a:lnSpc>
                <a:spcPts val="4546"/>
              </a:lnSpc>
            </a:pPr>
            <a:r>
              <a:rPr sz="3247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min_voltage (float): The voltage at which the battery is considered fully discharged.</a:t>
            </a:r>
          </a:p>
          <a:p>
            <a:pPr algn="l">
              <a:lnSpc>
                <a:spcPts val="4546"/>
              </a:lnSpc>
            </a:pPr>
            <a:r>
              <a:rPr sz="3247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max_voltage (float): The voltage at which the battery is considered fully charged.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Freeform 2"/>
          <p:cNvSpPr/>
          <p:nvPr/>
        </p:nvSpPr>
        <p:spPr>
          <a:xfrm rot="0" flipH="0" flipV="0">
            <a:off x="0" y="0"/>
            <a:ext cx="18288000" cy="10287000"/>
          </a:xfrm>
          <a:custGeom>
            <a:avLst/>
            <a:ah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-38888" r="0" b="-38888"/>
            </a:stretch>
          </a:blipFill>
        </p:spPr>
      </p:sp>
      <p:sp>
        <p:nvSpPr>
          <p:cNvPr id="1048663" name="Freeform 3"/>
          <p:cNvSpPr/>
          <p:nvPr/>
        </p:nvSpPr>
        <p:spPr>
          <a:xfrm rot="-5400000" flipH="0" flipV="0">
            <a:off x="13683459" y="9258300"/>
            <a:ext cx="2902990" cy="3303545"/>
          </a:xfrm>
          <a:custGeom>
            <a:avLst/>
            <a:ahLst/>
            <a:rect l="l" t="t" r="r" b="b"/>
            <a:pathLst>
              <a:path w="2902990" h="3303545">
                <a:moveTo>
                  <a:pt x="0" y="0"/>
                </a:moveTo>
                <a:lnTo>
                  <a:pt x="2902990" y="0"/>
                </a:lnTo>
                <a:lnTo>
                  <a:pt x="2902990" y="3303545"/>
                </a:lnTo>
                <a:lnTo>
                  <a:pt x="0" y="3303545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2"/>
            <a:stretch>
              <a:fillRect l="0" t="0" r="0" b="0"/>
            </a:stretch>
          </a:blipFill>
        </p:spPr>
      </p:sp>
      <p:sp>
        <p:nvSpPr>
          <p:cNvPr id="1048664" name="Freeform 4"/>
          <p:cNvSpPr/>
          <p:nvPr/>
        </p:nvSpPr>
        <p:spPr>
          <a:xfrm rot="0" flipH="0" flipV="0">
            <a:off x="15996331" y="8442824"/>
            <a:ext cx="2840504" cy="2623915"/>
          </a:xfrm>
          <a:custGeom>
            <a:avLst/>
            <a:ahLst/>
            <a:rect l="l" t="t" r="r" b="b"/>
            <a:pathLst>
              <a:path w="2840504" h="2623915">
                <a:moveTo>
                  <a:pt x="0" y="0"/>
                </a:moveTo>
                <a:lnTo>
                  <a:pt x="2840504" y="0"/>
                </a:lnTo>
                <a:lnTo>
                  <a:pt x="2840504" y="2623916"/>
                </a:lnTo>
                <a:lnTo>
                  <a:pt x="0" y="2623916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3"/>
            <a:stretch>
              <a:fillRect l="0" t="0" r="0" b="0"/>
            </a:stretch>
          </a:blipFill>
        </p:spPr>
      </p:sp>
      <p:sp>
        <p:nvSpPr>
          <p:cNvPr id="1048665" name="Freeform 5"/>
          <p:cNvSpPr/>
          <p:nvPr/>
        </p:nvSpPr>
        <p:spPr>
          <a:xfrm rot="735098" flipH="0" flipV="0">
            <a:off x="17210081" y="6359246"/>
            <a:ext cx="2136488" cy="1973581"/>
          </a:xfrm>
          <a:custGeom>
            <a:avLst/>
            <a:ahLst/>
            <a:rect l="l" t="t" r="r" b="b"/>
            <a:pathLst>
              <a:path w="2136488" h="1973581">
                <a:moveTo>
                  <a:pt x="0" y="0"/>
                </a:moveTo>
                <a:lnTo>
                  <a:pt x="2136488" y="0"/>
                </a:lnTo>
                <a:lnTo>
                  <a:pt x="2136488" y="1973581"/>
                </a:lnTo>
                <a:lnTo>
                  <a:pt x="0" y="1973581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3"/>
            <a:stretch>
              <a:fillRect l="0" t="0" r="0" b="0"/>
            </a:stretch>
          </a:blipFill>
        </p:spPr>
      </p:sp>
      <p:sp>
        <p:nvSpPr>
          <p:cNvPr id="1048666" name="Freeform 6"/>
          <p:cNvSpPr/>
          <p:nvPr/>
        </p:nvSpPr>
        <p:spPr>
          <a:xfrm rot="3880940" flipH="1" flipV="0">
            <a:off x="-1435362" y="779145"/>
            <a:ext cx="2769800" cy="4228703"/>
          </a:xfrm>
          <a:custGeom>
            <a:avLst/>
            <a:ahLst/>
            <a:rect l="l" t="t" r="r" b="b"/>
            <a:pathLst>
              <a:path w="2769800" h="4228703">
                <a:moveTo>
                  <a:pt x="2769800" y="0"/>
                </a:moveTo>
                <a:lnTo>
                  <a:pt x="0" y="0"/>
                </a:lnTo>
                <a:lnTo>
                  <a:pt x="0" y="4228703"/>
                </a:lnTo>
                <a:lnTo>
                  <a:pt x="2769800" y="4228703"/>
                </a:lnTo>
                <a:lnTo>
                  <a:pt x="2769800" y="0"/>
                </a:lnTo>
                <a:close/>
              </a:path>
            </a:pathLst>
          </a:custGeom>
          <a:blipFill>
            <a:blip xmlns:r="http://schemas.openxmlformats.org/officeDocument/2006/relationships" r:embed="rId4"/>
            <a:stretch>
              <a:fillRect l="0" t="0" r="0" b="0"/>
            </a:stretch>
          </a:blipFill>
        </p:spPr>
      </p:sp>
      <p:sp>
        <p:nvSpPr>
          <p:cNvPr id="1048667" name="Freeform 7"/>
          <p:cNvSpPr/>
          <p:nvPr/>
        </p:nvSpPr>
        <p:spPr>
          <a:xfrm rot="2700000" flipH="1" flipV="0">
            <a:off x="-1012971" y="-1794883"/>
            <a:ext cx="1568017" cy="3957141"/>
          </a:xfrm>
          <a:custGeom>
            <a:avLst/>
            <a:ahLst/>
            <a:rect l="l" t="t" r="r" b="b"/>
            <a:pathLst>
              <a:path w="1568017" h="3957141">
                <a:moveTo>
                  <a:pt x="1568017" y="0"/>
                </a:moveTo>
                <a:lnTo>
                  <a:pt x="0" y="0"/>
                </a:lnTo>
                <a:lnTo>
                  <a:pt x="0" y="3957140"/>
                </a:lnTo>
                <a:lnTo>
                  <a:pt x="1568017" y="3957140"/>
                </a:lnTo>
                <a:lnTo>
                  <a:pt x="1568017" y="0"/>
                </a:lnTo>
                <a:close/>
              </a:path>
            </a:pathLst>
          </a:custGeom>
          <a:blipFill>
            <a:blip xmlns:r="http://schemas.openxmlformats.org/officeDocument/2006/relationships" r:embed="rId5"/>
            <a:stretch>
              <a:fillRect l="0" t="0" r="0" b="0"/>
            </a:stretch>
          </a:blipFill>
        </p:spPr>
      </p:sp>
      <p:sp>
        <p:nvSpPr>
          <p:cNvPr id="1048668" name="Freeform 8"/>
          <p:cNvSpPr/>
          <p:nvPr/>
        </p:nvSpPr>
        <p:spPr>
          <a:xfrm rot="8862344" flipH="0" flipV="0">
            <a:off x="1055251" y="-2980210"/>
            <a:ext cx="4757812" cy="4634023"/>
          </a:xfrm>
          <a:custGeom>
            <a:avLst/>
            <a:ahLst/>
            <a:rect l="l" t="t" r="r" b="b"/>
            <a:pathLst>
              <a:path w="4757812" h="4634023">
                <a:moveTo>
                  <a:pt x="0" y="0"/>
                </a:moveTo>
                <a:lnTo>
                  <a:pt x="4757812" y="0"/>
                </a:lnTo>
                <a:lnTo>
                  <a:pt x="4757812" y="4634023"/>
                </a:lnTo>
                <a:lnTo>
                  <a:pt x="0" y="4634023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6"/>
            <a:stretch>
              <a:fillRect l="0" t="0" r="0" b="0"/>
            </a:stretch>
          </a:blipFill>
        </p:spPr>
      </p:sp>
      <p:sp>
        <p:nvSpPr>
          <p:cNvPr id="1048669" name="Freeform 9"/>
          <p:cNvSpPr/>
          <p:nvPr/>
        </p:nvSpPr>
        <p:spPr>
          <a:xfrm rot="0" flipH="0" flipV="0">
            <a:off x="12897254" y="-4151298"/>
            <a:ext cx="7220316" cy="6949554"/>
          </a:xfrm>
          <a:custGeom>
            <a:avLst/>
            <a:ahLst/>
            <a:rect l="l" t="t" r="r" b="b"/>
            <a:pathLst>
              <a:path w="7220316" h="6949554">
                <a:moveTo>
                  <a:pt x="0" y="0"/>
                </a:moveTo>
                <a:lnTo>
                  <a:pt x="7220316" y="0"/>
                </a:lnTo>
                <a:lnTo>
                  <a:pt x="7220316" y="6949554"/>
                </a:lnTo>
                <a:lnTo>
                  <a:pt x="0" y="694955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7"/>
            <a:stretch>
              <a:fillRect l="0" t="0" r="0" b="0"/>
            </a:stretch>
          </a:blipFill>
        </p:spPr>
      </p:sp>
      <p:sp>
        <p:nvSpPr>
          <p:cNvPr id="1048670" name="Freeform 10"/>
          <p:cNvSpPr/>
          <p:nvPr/>
        </p:nvSpPr>
        <p:spPr>
          <a:xfrm rot="0" flipH="0" flipV="0">
            <a:off x="-2956983" y="7717344"/>
            <a:ext cx="7467517" cy="7187485"/>
          </a:xfrm>
          <a:custGeom>
            <a:avLst/>
            <a:ahLst/>
            <a:rect l="l" t="t" r="r" b="b"/>
            <a:pathLst>
              <a:path w="7467517" h="7187485">
                <a:moveTo>
                  <a:pt x="0" y="0"/>
                </a:moveTo>
                <a:lnTo>
                  <a:pt x="7467516" y="0"/>
                </a:lnTo>
                <a:lnTo>
                  <a:pt x="7467516" y="7187484"/>
                </a:lnTo>
                <a:lnTo>
                  <a:pt x="0" y="718748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7"/>
            <a:stretch>
              <a:fillRect l="0" t="0" r="0" b="0"/>
            </a:stretch>
          </a:blipFill>
        </p:spPr>
      </p:sp>
      <p:sp>
        <p:nvSpPr>
          <p:cNvPr id="1048671" name="Freeform 11"/>
          <p:cNvSpPr/>
          <p:nvPr/>
        </p:nvSpPr>
        <p:spPr>
          <a:xfrm rot="0" flipH="0" flipV="0">
            <a:off x="-513330" y="7997490"/>
            <a:ext cx="3189446" cy="7187485"/>
          </a:xfrm>
          <a:custGeom>
            <a:avLst/>
            <a:ahLst/>
            <a:rect l="l" t="t" r="r" b="b"/>
            <a:pathLst>
              <a:path w="3189446" h="7187485">
                <a:moveTo>
                  <a:pt x="0" y="0"/>
                </a:moveTo>
                <a:lnTo>
                  <a:pt x="3189447" y="0"/>
                </a:lnTo>
                <a:lnTo>
                  <a:pt x="3189447" y="7187484"/>
                </a:lnTo>
                <a:lnTo>
                  <a:pt x="0" y="718748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8"/>
            <a:stretch>
              <a:fillRect l="0" t="0" r="0" b="0"/>
            </a:stretch>
          </a:blipFill>
        </p:spPr>
      </p:sp>
      <p:sp>
        <p:nvSpPr>
          <p:cNvPr id="1048672" name="Freeform 12"/>
          <p:cNvSpPr/>
          <p:nvPr/>
        </p:nvSpPr>
        <p:spPr>
          <a:xfrm rot="0" flipH="0" flipV="1">
            <a:off x="15487811" y="-4650415"/>
            <a:ext cx="3083865" cy="6949554"/>
          </a:xfrm>
          <a:custGeom>
            <a:avLst/>
            <a:ahLst/>
            <a:rect l="l" t="t" r="r" b="b"/>
            <a:pathLst>
              <a:path w="3083865" h="6949554">
                <a:moveTo>
                  <a:pt x="0" y="6949554"/>
                </a:moveTo>
                <a:lnTo>
                  <a:pt x="3083865" y="6949554"/>
                </a:lnTo>
                <a:lnTo>
                  <a:pt x="3083865" y="0"/>
                </a:lnTo>
                <a:lnTo>
                  <a:pt x="0" y="0"/>
                </a:lnTo>
                <a:lnTo>
                  <a:pt x="0" y="6949554"/>
                </a:lnTo>
                <a:close/>
              </a:path>
            </a:pathLst>
          </a:custGeom>
          <a:blipFill>
            <a:blip xmlns:r="http://schemas.openxmlformats.org/officeDocument/2006/relationships" r:embed="rId8"/>
            <a:stretch>
              <a:fillRect l="0" t="0" r="0" b="0"/>
            </a:stretch>
          </a:blipFill>
        </p:spPr>
      </p:sp>
      <p:sp>
        <p:nvSpPr>
          <p:cNvPr id="1048673" name="TextBox 13"/>
          <p:cNvSpPr txBox="1"/>
          <p:nvPr/>
        </p:nvSpPr>
        <p:spPr>
          <a:xfrm rot="0">
            <a:off x="5809012" y="1346060"/>
            <a:ext cx="9325942" cy="7532622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5392"/>
              </a:lnSpc>
            </a:pPr>
            <a:r>
              <a:rPr sz="3852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Returns:</a:t>
            </a:r>
          </a:p>
          <a:p>
            <a:pPr algn="l">
              <a:lnSpc>
                <a:spcPts val="5392"/>
              </a:lnSpc>
            </a:pPr>
            <a:r>
              <a:rPr sz="3852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float: The battery level as a percentage.</a:t>
            </a:r>
          </a:p>
          <a:p>
            <a:pPr algn="l">
              <a:lnSpc>
                <a:spcPts val="5392"/>
              </a:lnSpc>
            </a:pPr>
            <a:r>
              <a:rPr sz="3852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"""</a:t>
            </a:r>
          </a:p>
          <a:p>
            <a:pPr algn="l">
              <a:lnSpc>
                <a:spcPts val="5392"/>
              </a:lnSpc>
            </a:pPr>
            <a:r>
              <a:rPr sz="3852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# Ensure that the voltage is within the expected range</a:t>
            </a:r>
          </a:p>
          <a:p>
            <a:pPr algn="l">
              <a:lnSpc>
                <a:spcPts val="5392"/>
              </a:lnSpc>
            </a:pPr>
            <a:r>
              <a:rPr sz="3852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if voltage &lt; min_voltage:</a:t>
            </a:r>
          </a:p>
          <a:p>
            <a:pPr algn="l">
              <a:lnSpc>
                <a:spcPts val="5392"/>
              </a:lnSpc>
            </a:pPr>
            <a:r>
              <a:rPr sz="3852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    return 0.0  </a:t>
            </a:r>
          </a:p>
          <a:p>
            <a:pPr algn="l">
              <a:lnSpc>
                <a:spcPts val="5392"/>
              </a:lnSpc>
            </a:pPr>
            <a:r>
              <a:rPr sz="3852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# Battery is completely discharged</a:t>
            </a:r>
          </a:p>
          <a:p>
            <a:pPr algn="l">
              <a:lnSpc>
                <a:spcPts val="5392"/>
              </a:lnSpc>
            </a:pPr>
            <a:r>
              <a:rPr sz="3852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elif voltage &gt; max_voltage:</a:t>
            </a:r>
          </a:p>
          <a:p>
            <a:pPr algn="l">
              <a:lnSpc>
                <a:spcPts val="5392"/>
              </a:lnSpc>
            </a:pPr>
            <a:r>
              <a:rPr sz="3852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    return 100.0 </a:t>
            </a:r>
          </a:p>
          <a:p>
            <a:pPr algn="l">
              <a:lnSpc>
                <a:spcPts val="5392"/>
              </a:lnSpc>
            </a:pPr>
            <a:r>
              <a:rPr sz="3852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# Battery is fully charged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Freeform 2"/>
          <p:cNvSpPr/>
          <p:nvPr/>
        </p:nvSpPr>
        <p:spPr>
          <a:xfrm rot="0" flipH="0" flipV="0">
            <a:off x="0" y="0"/>
            <a:ext cx="18288000" cy="10287000"/>
          </a:xfrm>
          <a:custGeom>
            <a:avLst/>
            <a:ah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-38888" r="0" b="-38888"/>
            </a:stretch>
          </a:blipFill>
        </p:spPr>
      </p:sp>
      <p:sp>
        <p:nvSpPr>
          <p:cNvPr id="1048675" name="Freeform 3"/>
          <p:cNvSpPr/>
          <p:nvPr/>
        </p:nvSpPr>
        <p:spPr>
          <a:xfrm rot="-5400000" flipH="0" flipV="0">
            <a:off x="13683459" y="9258300"/>
            <a:ext cx="2902990" cy="3303545"/>
          </a:xfrm>
          <a:custGeom>
            <a:avLst/>
            <a:ahLst/>
            <a:rect l="l" t="t" r="r" b="b"/>
            <a:pathLst>
              <a:path w="2902990" h="3303545">
                <a:moveTo>
                  <a:pt x="0" y="0"/>
                </a:moveTo>
                <a:lnTo>
                  <a:pt x="2902990" y="0"/>
                </a:lnTo>
                <a:lnTo>
                  <a:pt x="2902990" y="3303545"/>
                </a:lnTo>
                <a:lnTo>
                  <a:pt x="0" y="3303545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2"/>
            <a:stretch>
              <a:fillRect l="0" t="0" r="0" b="0"/>
            </a:stretch>
          </a:blipFill>
        </p:spPr>
      </p:sp>
      <p:sp>
        <p:nvSpPr>
          <p:cNvPr id="1048676" name="Freeform 4"/>
          <p:cNvSpPr/>
          <p:nvPr/>
        </p:nvSpPr>
        <p:spPr>
          <a:xfrm rot="0" flipH="0" flipV="0">
            <a:off x="15996331" y="8442824"/>
            <a:ext cx="2840504" cy="2623915"/>
          </a:xfrm>
          <a:custGeom>
            <a:avLst/>
            <a:ahLst/>
            <a:rect l="l" t="t" r="r" b="b"/>
            <a:pathLst>
              <a:path w="2840504" h="2623915">
                <a:moveTo>
                  <a:pt x="0" y="0"/>
                </a:moveTo>
                <a:lnTo>
                  <a:pt x="2840504" y="0"/>
                </a:lnTo>
                <a:lnTo>
                  <a:pt x="2840504" y="2623916"/>
                </a:lnTo>
                <a:lnTo>
                  <a:pt x="0" y="2623916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3"/>
            <a:stretch>
              <a:fillRect l="0" t="0" r="0" b="0"/>
            </a:stretch>
          </a:blipFill>
        </p:spPr>
      </p:sp>
      <p:sp>
        <p:nvSpPr>
          <p:cNvPr id="1048677" name="Freeform 5"/>
          <p:cNvSpPr/>
          <p:nvPr/>
        </p:nvSpPr>
        <p:spPr>
          <a:xfrm rot="735098" flipH="0" flipV="0">
            <a:off x="17210081" y="6359246"/>
            <a:ext cx="2136488" cy="1973581"/>
          </a:xfrm>
          <a:custGeom>
            <a:avLst/>
            <a:ahLst/>
            <a:rect l="l" t="t" r="r" b="b"/>
            <a:pathLst>
              <a:path w="2136488" h="1973581">
                <a:moveTo>
                  <a:pt x="0" y="0"/>
                </a:moveTo>
                <a:lnTo>
                  <a:pt x="2136488" y="0"/>
                </a:lnTo>
                <a:lnTo>
                  <a:pt x="2136488" y="1973581"/>
                </a:lnTo>
                <a:lnTo>
                  <a:pt x="0" y="1973581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3"/>
            <a:stretch>
              <a:fillRect l="0" t="0" r="0" b="0"/>
            </a:stretch>
          </a:blipFill>
        </p:spPr>
      </p:sp>
      <p:sp>
        <p:nvSpPr>
          <p:cNvPr id="1048678" name="Freeform 6"/>
          <p:cNvSpPr/>
          <p:nvPr/>
        </p:nvSpPr>
        <p:spPr>
          <a:xfrm rot="3880940" flipH="1" flipV="0">
            <a:off x="-1435362" y="779145"/>
            <a:ext cx="2769800" cy="4228703"/>
          </a:xfrm>
          <a:custGeom>
            <a:avLst/>
            <a:ahLst/>
            <a:rect l="l" t="t" r="r" b="b"/>
            <a:pathLst>
              <a:path w="2769800" h="4228703">
                <a:moveTo>
                  <a:pt x="2769800" y="0"/>
                </a:moveTo>
                <a:lnTo>
                  <a:pt x="0" y="0"/>
                </a:lnTo>
                <a:lnTo>
                  <a:pt x="0" y="4228703"/>
                </a:lnTo>
                <a:lnTo>
                  <a:pt x="2769800" y="4228703"/>
                </a:lnTo>
                <a:lnTo>
                  <a:pt x="2769800" y="0"/>
                </a:lnTo>
                <a:close/>
              </a:path>
            </a:pathLst>
          </a:custGeom>
          <a:blipFill>
            <a:blip xmlns:r="http://schemas.openxmlformats.org/officeDocument/2006/relationships" r:embed="rId4"/>
            <a:stretch>
              <a:fillRect l="0" t="0" r="0" b="0"/>
            </a:stretch>
          </a:blipFill>
        </p:spPr>
      </p:sp>
      <p:sp>
        <p:nvSpPr>
          <p:cNvPr id="1048679" name="Freeform 7"/>
          <p:cNvSpPr/>
          <p:nvPr/>
        </p:nvSpPr>
        <p:spPr>
          <a:xfrm rot="2700000" flipH="1" flipV="0">
            <a:off x="-1012971" y="-1794883"/>
            <a:ext cx="1568017" cy="3957141"/>
          </a:xfrm>
          <a:custGeom>
            <a:avLst/>
            <a:ahLst/>
            <a:rect l="l" t="t" r="r" b="b"/>
            <a:pathLst>
              <a:path w="1568017" h="3957141">
                <a:moveTo>
                  <a:pt x="1568017" y="0"/>
                </a:moveTo>
                <a:lnTo>
                  <a:pt x="0" y="0"/>
                </a:lnTo>
                <a:lnTo>
                  <a:pt x="0" y="3957140"/>
                </a:lnTo>
                <a:lnTo>
                  <a:pt x="1568017" y="3957140"/>
                </a:lnTo>
                <a:lnTo>
                  <a:pt x="1568017" y="0"/>
                </a:lnTo>
                <a:close/>
              </a:path>
            </a:pathLst>
          </a:custGeom>
          <a:blipFill>
            <a:blip xmlns:r="http://schemas.openxmlformats.org/officeDocument/2006/relationships" r:embed="rId5"/>
            <a:stretch>
              <a:fillRect l="0" t="0" r="0" b="0"/>
            </a:stretch>
          </a:blipFill>
        </p:spPr>
      </p:sp>
      <p:sp>
        <p:nvSpPr>
          <p:cNvPr id="1048680" name="Freeform 8"/>
          <p:cNvSpPr/>
          <p:nvPr/>
        </p:nvSpPr>
        <p:spPr>
          <a:xfrm rot="8862344" flipH="0" flipV="0">
            <a:off x="1055251" y="-2980210"/>
            <a:ext cx="4757812" cy="4634023"/>
          </a:xfrm>
          <a:custGeom>
            <a:avLst/>
            <a:ahLst/>
            <a:rect l="l" t="t" r="r" b="b"/>
            <a:pathLst>
              <a:path w="4757812" h="4634023">
                <a:moveTo>
                  <a:pt x="0" y="0"/>
                </a:moveTo>
                <a:lnTo>
                  <a:pt x="4757812" y="0"/>
                </a:lnTo>
                <a:lnTo>
                  <a:pt x="4757812" y="4634023"/>
                </a:lnTo>
                <a:lnTo>
                  <a:pt x="0" y="4634023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6"/>
            <a:stretch>
              <a:fillRect l="0" t="0" r="0" b="0"/>
            </a:stretch>
          </a:blipFill>
        </p:spPr>
      </p:sp>
      <p:sp>
        <p:nvSpPr>
          <p:cNvPr id="1048681" name="Freeform 9"/>
          <p:cNvSpPr/>
          <p:nvPr/>
        </p:nvSpPr>
        <p:spPr>
          <a:xfrm rot="0" flipH="0" flipV="0">
            <a:off x="12897254" y="-4151298"/>
            <a:ext cx="7220316" cy="6949554"/>
          </a:xfrm>
          <a:custGeom>
            <a:avLst/>
            <a:ahLst/>
            <a:rect l="l" t="t" r="r" b="b"/>
            <a:pathLst>
              <a:path w="7220316" h="6949554">
                <a:moveTo>
                  <a:pt x="0" y="0"/>
                </a:moveTo>
                <a:lnTo>
                  <a:pt x="7220316" y="0"/>
                </a:lnTo>
                <a:lnTo>
                  <a:pt x="7220316" y="6949554"/>
                </a:lnTo>
                <a:lnTo>
                  <a:pt x="0" y="694955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7"/>
            <a:stretch>
              <a:fillRect l="0" t="0" r="0" b="0"/>
            </a:stretch>
          </a:blipFill>
        </p:spPr>
      </p:sp>
      <p:sp>
        <p:nvSpPr>
          <p:cNvPr id="1048682" name="Freeform 10"/>
          <p:cNvSpPr/>
          <p:nvPr/>
        </p:nvSpPr>
        <p:spPr>
          <a:xfrm rot="0" flipH="0" flipV="0">
            <a:off x="-2956983" y="7717344"/>
            <a:ext cx="7467517" cy="7187485"/>
          </a:xfrm>
          <a:custGeom>
            <a:avLst/>
            <a:ahLst/>
            <a:rect l="l" t="t" r="r" b="b"/>
            <a:pathLst>
              <a:path w="7467517" h="7187485">
                <a:moveTo>
                  <a:pt x="0" y="0"/>
                </a:moveTo>
                <a:lnTo>
                  <a:pt x="7467516" y="0"/>
                </a:lnTo>
                <a:lnTo>
                  <a:pt x="7467516" y="7187484"/>
                </a:lnTo>
                <a:lnTo>
                  <a:pt x="0" y="718748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7"/>
            <a:stretch>
              <a:fillRect l="0" t="0" r="0" b="0"/>
            </a:stretch>
          </a:blipFill>
        </p:spPr>
      </p:sp>
      <p:sp>
        <p:nvSpPr>
          <p:cNvPr id="1048683" name="Freeform 11"/>
          <p:cNvSpPr/>
          <p:nvPr/>
        </p:nvSpPr>
        <p:spPr>
          <a:xfrm rot="0" flipH="0" flipV="0">
            <a:off x="-513330" y="7997490"/>
            <a:ext cx="3189446" cy="7187485"/>
          </a:xfrm>
          <a:custGeom>
            <a:avLst/>
            <a:ahLst/>
            <a:rect l="l" t="t" r="r" b="b"/>
            <a:pathLst>
              <a:path w="3189446" h="7187485">
                <a:moveTo>
                  <a:pt x="0" y="0"/>
                </a:moveTo>
                <a:lnTo>
                  <a:pt x="3189447" y="0"/>
                </a:lnTo>
                <a:lnTo>
                  <a:pt x="3189447" y="7187484"/>
                </a:lnTo>
                <a:lnTo>
                  <a:pt x="0" y="718748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8"/>
            <a:stretch>
              <a:fillRect l="0" t="0" r="0" b="0"/>
            </a:stretch>
          </a:blipFill>
        </p:spPr>
      </p:sp>
      <p:sp>
        <p:nvSpPr>
          <p:cNvPr id="1048684" name="Freeform 12"/>
          <p:cNvSpPr/>
          <p:nvPr/>
        </p:nvSpPr>
        <p:spPr>
          <a:xfrm rot="0" flipH="0" flipV="1">
            <a:off x="15487811" y="-4650415"/>
            <a:ext cx="3083865" cy="6949554"/>
          </a:xfrm>
          <a:custGeom>
            <a:avLst/>
            <a:ahLst/>
            <a:rect l="l" t="t" r="r" b="b"/>
            <a:pathLst>
              <a:path w="3083865" h="6949554">
                <a:moveTo>
                  <a:pt x="0" y="6949554"/>
                </a:moveTo>
                <a:lnTo>
                  <a:pt x="3083865" y="6949554"/>
                </a:lnTo>
                <a:lnTo>
                  <a:pt x="3083865" y="0"/>
                </a:lnTo>
                <a:lnTo>
                  <a:pt x="0" y="0"/>
                </a:lnTo>
                <a:lnTo>
                  <a:pt x="0" y="6949554"/>
                </a:lnTo>
                <a:close/>
              </a:path>
            </a:pathLst>
          </a:custGeom>
          <a:blipFill>
            <a:blip xmlns:r="http://schemas.openxmlformats.org/officeDocument/2006/relationships" r:embed="rId8"/>
            <a:stretch>
              <a:fillRect l="0" t="0" r="0" b="0"/>
            </a:stretch>
          </a:blipFill>
        </p:spPr>
      </p:sp>
      <p:sp>
        <p:nvSpPr>
          <p:cNvPr id="1048685" name="TextBox 13"/>
          <p:cNvSpPr txBox="1"/>
          <p:nvPr/>
        </p:nvSpPr>
        <p:spPr>
          <a:xfrm rot="0">
            <a:off x="6047137" y="710218"/>
            <a:ext cx="6850117" cy="9468211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5392"/>
              </a:lnSpc>
            </a:pPr>
            <a:r>
              <a:rPr sz="3852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# Calculate the percentage of charge based on the voltage range</a:t>
            </a:r>
          </a:p>
          <a:p>
            <a:pPr algn="l">
              <a:lnSpc>
                <a:spcPts val="5392"/>
              </a:lnSpc>
            </a:pPr>
            <a:r>
              <a:rPr sz="3852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battery_percentage = ((voltage - min_voltage) / (max_voltage - min_voltage)) * 100</a:t>
            </a:r>
          </a:p>
          <a:p>
            <a:pPr algn="l">
              <a:lnSpc>
                <a:spcPts val="5392"/>
              </a:lnSpc>
            </a:pPr>
            <a:r>
              <a:rPr sz="3852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return battery_percentage</a:t>
            </a:r>
          </a:p>
          <a:p>
            <a:pPr algn="l">
              <a:lnSpc>
                <a:spcPts val="5392"/>
              </a:lnSpc>
            </a:pPr>
          </a:p>
          <a:p>
            <a:pPr algn="l">
              <a:lnSpc>
                <a:spcPts val="5392"/>
              </a:lnSpc>
            </a:pPr>
            <a:r>
              <a:rPr sz="3852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# Example usage</a:t>
            </a:r>
          </a:p>
          <a:p>
            <a:pPr algn="l">
              <a:lnSpc>
                <a:spcPts val="5392"/>
              </a:lnSpc>
            </a:pPr>
            <a:r>
              <a:rPr sz="3852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min_voltage = 3.0</a:t>
            </a:r>
          </a:p>
          <a:p>
            <a:pPr algn="l">
              <a:lnSpc>
                <a:spcPts val="5392"/>
              </a:lnSpc>
            </a:pPr>
            <a:r>
              <a:rPr sz="3852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# Minimum voltage for a discharged battery</a:t>
            </a:r>
          </a:p>
          <a:p>
            <a:pPr algn="l">
              <a:lnSpc>
                <a:spcPts val="5392"/>
              </a:lnSpc>
            </a:pPr>
            <a:r>
              <a:rPr sz="3852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max_voltage = 4.2 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6" name="Freeform 2"/>
          <p:cNvSpPr/>
          <p:nvPr/>
        </p:nvSpPr>
        <p:spPr>
          <a:xfrm rot="0" flipH="0" flipV="0">
            <a:off x="0" y="0"/>
            <a:ext cx="18288000" cy="10287000"/>
          </a:xfrm>
          <a:custGeom>
            <a:avLst/>
            <a:ah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-38888" r="0" b="-38888"/>
            </a:stretch>
          </a:blipFill>
        </p:spPr>
      </p:sp>
      <p:sp>
        <p:nvSpPr>
          <p:cNvPr id="1048687" name="Freeform 3"/>
          <p:cNvSpPr/>
          <p:nvPr/>
        </p:nvSpPr>
        <p:spPr>
          <a:xfrm rot="-5400000" flipH="0" flipV="0">
            <a:off x="13683459" y="9258300"/>
            <a:ext cx="2902990" cy="3303545"/>
          </a:xfrm>
          <a:custGeom>
            <a:avLst/>
            <a:ahLst/>
            <a:rect l="l" t="t" r="r" b="b"/>
            <a:pathLst>
              <a:path w="2902990" h="3303545">
                <a:moveTo>
                  <a:pt x="0" y="0"/>
                </a:moveTo>
                <a:lnTo>
                  <a:pt x="2902990" y="0"/>
                </a:lnTo>
                <a:lnTo>
                  <a:pt x="2902990" y="3303545"/>
                </a:lnTo>
                <a:lnTo>
                  <a:pt x="0" y="3303545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2"/>
            <a:stretch>
              <a:fillRect l="0" t="0" r="0" b="0"/>
            </a:stretch>
          </a:blipFill>
        </p:spPr>
      </p:sp>
      <p:sp>
        <p:nvSpPr>
          <p:cNvPr id="1048688" name="Freeform 4"/>
          <p:cNvSpPr/>
          <p:nvPr/>
        </p:nvSpPr>
        <p:spPr>
          <a:xfrm rot="0" flipH="0" flipV="0">
            <a:off x="15996331" y="8442824"/>
            <a:ext cx="2840504" cy="2623915"/>
          </a:xfrm>
          <a:custGeom>
            <a:avLst/>
            <a:ahLst/>
            <a:rect l="l" t="t" r="r" b="b"/>
            <a:pathLst>
              <a:path w="2840504" h="2623915">
                <a:moveTo>
                  <a:pt x="0" y="0"/>
                </a:moveTo>
                <a:lnTo>
                  <a:pt x="2840504" y="0"/>
                </a:lnTo>
                <a:lnTo>
                  <a:pt x="2840504" y="2623916"/>
                </a:lnTo>
                <a:lnTo>
                  <a:pt x="0" y="2623916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3"/>
            <a:stretch>
              <a:fillRect l="0" t="0" r="0" b="0"/>
            </a:stretch>
          </a:blipFill>
        </p:spPr>
      </p:sp>
      <p:sp>
        <p:nvSpPr>
          <p:cNvPr id="1048689" name="Freeform 5"/>
          <p:cNvSpPr/>
          <p:nvPr/>
        </p:nvSpPr>
        <p:spPr>
          <a:xfrm rot="735098" flipH="0" flipV="0">
            <a:off x="17210081" y="6359246"/>
            <a:ext cx="2136488" cy="1973581"/>
          </a:xfrm>
          <a:custGeom>
            <a:avLst/>
            <a:ahLst/>
            <a:rect l="l" t="t" r="r" b="b"/>
            <a:pathLst>
              <a:path w="2136488" h="1973581">
                <a:moveTo>
                  <a:pt x="0" y="0"/>
                </a:moveTo>
                <a:lnTo>
                  <a:pt x="2136488" y="0"/>
                </a:lnTo>
                <a:lnTo>
                  <a:pt x="2136488" y="1973581"/>
                </a:lnTo>
                <a:lnTo>
                  <a:pt x="0" y="1973581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3"/>
            <a:stretch>
              <a:fillRect l="0" t="0" r="0" b="0"/>
            </a:stretch>
          </a:blipFill>
        </p:spPr>
      </p:sp>
      <p:sp>
        <p:nvSpPr>
          <p:cNvPr id="1048690" name="Freeform 6"/>
          <p:cNvSpPr/>
          <p:nvPr/>
        </p:nvSpPr>
        <p:spPr>
          <a:xfrm rot="3880940" flipH="1" flipV="0">
            <a:off x="-1435362" y="779145"/>
            <a:ext cx="2769800" cy="4228703"/>
          </a:xfrm>
          <a:custGeom>
            <a:avLst/>
            <a:ahLst/>
            <a:rect l="l" t="t" r="r" b="b"/>
            <a:pathLst>
              <a:path w="2769800" h="4228703">
                <a:moveTo>
                  <a:pt x="2769800" y="0"/>
                </a:moveTo>
                <a:lnTo>
                  <a:pt x="0" y="0"/>
                </a:lnTo>
                <a:lnTo>
                  <a:pt x="0" y="4228703"/>
                </a:lnTo>
                <a:lnTo>
                  <a:pt x="2769800" y="4228703"/>
                </a:lnTo>
                <a:lnTo>
                  <a:pt x="2769800" y="0"/>
                </a:lnTo>
                <a:close/>
              </a:path>
            </a:pathLst>
          </a:custGeom>
          <a:blipFill>
            <a:blip xmlns:r="http://schemas.openxmlformats.org/officeDocument/2006/relationships" r:embed="rId4"/>
            <a:stretch>
              <a:fillRect l="0" t="0" r="0" b="0"/>
            </a:stretch>
          </a:blipFill>
        </p:spPr>
      </p:sp>
      <p:sp>
        <p:nvSpPr>
          <p:cNvPr id="1048691" name="Freeform 7"/>
          <p:cNvSpPr/>
          <p:nvPr/>
        </p:nvSpPr>
        <p:spPr>
          <a:xfrm rot="2700000" flipH="1" flipV="0">
            <a:off x="-1012971" y="-1794883"/>
            <a:ext cx="1568017" cy="3957141"/>
          </a:xfrm>
          <a:custGeom>
            <a:avLst/>
            <a:ahLst/>
            <a:rect l="l" t="t" r="r" b="b"/>
            <a:pathLst>
              <a:path w="1568017" h="3957141">
                <a:moveTo>
                  <a:pt x="1568017" y="0"/>
                </a:moveTo>
                <a:lnTo>
                  <a:pt x="0" y="0"/>
                </a:lnTo>
                <a:lnTo>
                  <a:pt x="0" y="3957140"/>
                </a:lnTo>
                <a:lnTo>
                  <a:pt x="1568017" y="3957140"/>
                </a:lnTo>
                <a:lnTo>
                  <a:pt x="1568017" y="0"/>
                </a:lnTo>
                <a:close/>
              </a:path>
            </a:pathLst>
          </a:custGeom>
          <a:blipFill>
            <a:blip xmlns:r="http://schemas.openxmlformats.org/officeDocument/2006/relationships" r:embed="rId5"/>
            <a:stretch>
              <a:fillRect l="0" t="0" r="0" b="0"/>
            </a:stretch>
          </a:blipFill>
        </p:spPr>
      </p:sp>
      <p:sp>
        <p:nvSpPr>
          <p:cNvPr id="1048692" name="Freeform 8"/>
          <p:cNvSpPr/>
          <p:nvPr/>
        </p:nvSpPr>
        <p:spPr>
          <a:xfrm rot="8862344" flipH="0" flipV="0">
            <a:off x="1055251" y="-2980210"/>
            <a:ext cx="4757812" cy="4634023"/>
          </a:xfrm>
          <a:custGeom>
            <a:avLst/>
            <a:ahLst/>
            <a:rect l="l" t="t" r="r" b="b"/>
            <a:pathLst>
              <a:path w="4757812" h="4634023">
                <a:moveTo>
                  <a:pt x="0" y="0"/>
                </a:moveTo>
                <a:lnTo>
                  <a:pt x="4757812" y="0"/>
                </a:lnTo>
                <a:lnTo>
                  <a:pt x="4757812" y="4634023"/>
                </a:lnTo>
                <a:lnTo>
                  <a:pt x="0" y="4634023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6"/>
            <a:stretch>
              <a:fillRect l="0" t="0" r="0" b="0"/>
            </a:stretch>
          </a:blipFill>
        </p:spPr>
      </p:sp>
      <p:sp>
        <p:nvSpPr>
          <p:cNvPr id="1048693" name="Freeform 9"/>
          <p:cNvSpPr/>
          <p:nvPr/>
        </p:nvSpPr>
        <p:spPr>
          <a:xfrm rot="0" flipH="0" flipV="0">
            <a:off x="12897254" y="-4151298"/>
            <a:ext cx="7220316" cy="6949554"/>
          </a:xfrm>
          <a:custGeom>
            <a:avLst/>
            <a:ahLst/>
            <a:rect l="l" t="t" r="r" b="b"/>
            <a:pathLst>
              <a:path w="7220316" h="6949554">
                <a:moveTo>
                  <a:pt x="0" y="0"/>
                </a:moveTo>
                <a:lnTo>
                  <a:pt x="7220316" y="0"/>
                </a:lnTo>
                <a:lnTo>
                  <a:pt x="7220316" y="6949554"/>
                </a:lnTo>
                <a:lnTo>
                  <a:pt x="0" y="694955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7"/>
            <a:stretch>
              <a:fillRect l="0" t="0" r="0" b="0"/>
            </a:stretch>
          </a:blipFill>
        </p:spPr>
      </p:sp>
      <p:sp>
        <p:nvSpPr>
          <p:cNvPr id="1048694" name="Freeform 10"/>
          <p:cNvSpPr/>
          <p:nvPr/>
        </p:nvSpPr>
        <p:spPr>
          <a:xfrm rot="0" flipH="0" flipV="0">
            <a:off x="-2956983" y="7717344"/>
            <a:ext cx="7467517" cy="7187485"/>
          </a:xfrm>
          <a:custGeom>
            <a:avLst/>
            <a:ahLst/>
            <a:rect l="l" t="t" r="r" b="b"/>
            <a:pathLst>
              <a:path w="7467517" h="7187485">
                <a:moveTo>
                  <a:pt x="0" y="0"/>
                </a:moveTo>
                <a:lnTo>
                  <a:pt x="7467516" y="0"/>
                </a:lnTo>
                <a:lnTo>
                  <a:pt x="7467516" y="7187484"/>
                </a:lnTo>
                <a:lnTo>
                  <a:pt x="0" y="718748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7"/>
            <a:stretch>
              <a:fillRect l="0" t="0" r="0" b="0"/>
            </a:stretch>
          </a:blipFill>
        </p:spPr>
      </p:sp>
      <p:sp>
        <p:nvSpPr>
          <p:cNvPr id="1048695" name="Freeform 11"/>
          <p:cNvSpPr/>
          <p:nvPr/>
        </p:nvSpPr>
        <p:spPr>
          <a:xfrm rot="0" flipH="0" flipV="0">
            <a:off x="-513330" y="7997490"/>
            <a:ext cx="3189446" cy="7187485"/>
          </a:xfrm>
          <a:custGeom>
            <a:avLst/>
            <a:ahLst/>
            <a:rect l="l" t="t" r="r" b="b"/>
            <a:pathLst>
              <a:path w="3189446" h="7187485">
                <a:moveTo>
                  <a:pt x="0" y="0"/>
                </a:moveTo>
                <a:lnTo>
                  <a:pt x="3189447" y="0"/>
                </a:lnTo>
                <a:lnTo>
                  <a:pt x="3189447" y="7187484"/>
                </a:lnTo>
                <a:lnTo>
                  <a:pt x="0" y="718748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8"/>
            <a:stretch>
              <a:fillRect l="0" t="0" r="0" b="0"/>
            </a:stretch>
          </a:blipFill>
        </p:spPr>
      </p:sp>
      <p:sp>
        <p:nvSpPr>
          <p:cNvPr id="1048696" name="Freeform 12"/>
          <p:cNvSpPr/>
          <p:nvPr/>
        </p:nvSpPr>
        <p:spPr>
          <a:xfrm rot="0" flipH="0" flipV="1">
            <a:off x="15487811" y="-4650415"/>
            <a:ext cx="3083865" cy="6949554"/>
          </a:xfrm>
          <a:custGeom>
            <a:avLst/>
            <a:ahLst/>
            <a:rect l="l" t="t" r="r" b="b"/>
            <a:pathLst>
              <a:path w="3083865" h="6949554">
                <a:moveTo>
                  <a:pt x="0" y="6949554"/>
                </a:moveTo>
                <a:lnTo>
                  <a:pt x="3083865" y="6949554"/>
                </a:lnTo>
                <a:lnTo>
                  <a:pt x="3083865" y="0"/>
                </a:lnTo>
                <a:lnTo>
                  <a:pt x="0" y="0"/>
                </a:lnTo>
                <a:lnTo>
                  <a:pt x="0" y="6949554"/>
                </a:lnTo>
                <a:close/>
              </a:path>
            </a:pathLst>
          </a:custGeom>
          <a:blipFill>
            <a:blip xmlns:r="http://schemas.openxmlformats.org/officeDocument/2006/relationships" r:embed="rId8"/>
            <a:stretch>
              <a:fillRect l="0" t="0" r="0" b="0"/>
            </a:stretch>
          </a:blipFill>
        </p:spPr>
      </p:sp>
      <p:sp>
        <p:nvSpPr>
          <p:cNvPr id="1048697" name="TextBox 13"/>
          <p:cNvSpPr txBox="1"/>
          <p:nvPr/>
        </p:nvSpPr>
        <p:spPr>
          <a:xfrm rot="0">
            <a:off x="4015994" y="952500"/>
            <a:ext cx="10717496" cy="8790364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5392"/>
              </a:lnSpc>
            </a:pPr>
            <a:r>
              <a:rPr sz="3852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# Maximum voltage for a fully charged battery</a:t>
            </a:r>
          </a:p>
          <a:p>
            <a:pPr algn="l">
              <a:lnSpc>
                <a:spcPts val="5392"/>
              </a:lnSpc>
            </a:pPr>
          </a:p>
          <a:p>
            <a:pPr algn="l">
              <a:lnSpc>
                <a:spcPts val="5392"/>
              </a:lnSpc>
            </a:pPr>
            <a:r>
              <a:rPr sz="3852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# Simulate a current battery voltage reading</a:t>
            </a:r>
          </a:p>
          <a:p>
            <a:pPr algn="l">
              <a:lnSpc>
                <a:spcPts val="5392"/>
              </a:lnSpc>
            </a:pPr>
            <a:r>
              <a:rPr sz="3852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current_voltage = 3.7</a:t>
            </a:r>
          </a:p>
          <a:p>
            <a:pPr algn="l">
              <a:lnSpc>
                <a:spcPts val="5392"/>
              </a:lnSpc>
            </a:pPr>
            <a:r>
              <a:rPr sz="3852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battery_level = calculate_battery_level(current_voltage, min_voltage, max_voltage)</a:t>
            </a:r>
          </a:p>
          <a:p>
            <a:pPr algn="l">
              <a:lnSpc>
                <a:spcPts val="5392"/>
              </a:lnSpc>
            </a:pPr>
            <a:r>
              <a:rPr sz="3852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print(f"Battery Voltage: {current_voltage}V")</a:t>
            </a:r>
          </a:p>
          <a:p>
            <a:pPr algn="l">
              <a:lnSpc>
                <a:spcPts val="5392"/>
              </a:lnSpc>
            </a:pPr>
            <a:r>
              <a:rPr sz="3852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print(f"Battery Level: {battery_level:.2f}%")</a:t>
            </a:r>
          </a:p>
          <a:p>
            <a:pPr algn="l">
              <a:lnSpc>
                <a:spcPts val="5392"/>
              </a:lnSpc>
            </a:pPr>
          </a:p>
          <a:p>
            <a:pPr algn="l">
              <a:lnSpc>
                <a:spcPts val="5392"/>
              </a:lnSpc>
            </a:pPr>
            <a:r>
              <a:rPr sz="3852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Output:</a:t>
            </a:r>
          </a:p>
          <a:p>
            <a:pPr algn="l">
              <a:lnSpc>
                <a:spcPts val="5392"/>
              </a:lnSpc>
            </a:pPr>
            <a:r>
              <a:rPr sz="3852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Battery Voltage :3.7V</a:t>
            </a:r>
          </a:p>
          <a:p>
            <a:pPr algn="l">
              <a:lnSpc>
                <a:spcPts val="5392"/>
              </a:lnSpc>
            </a:pPr>
            <a:r>
              <a:rPr sz="3852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Battery level :58.33%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8" name="Freeform 2"/>
          <p:cNvSpPr/>
          <p:nvPr/>
        </p:nvSpPr>
        <p:spPr>
          <a:xfrm rot="0" flipH="0" flipV="0">
            <a:off x="0" y="0"/>
            <a:ext cx="18288000" cy="10287000"/>
          </a:xfrm>
          <a:custGeom>
            <a:avLst/>
            <a:ah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-38888" r="0" b="-38888"/>
            </a:stretch>
          </a:blipFill>
        </p:spPr>
      </p:sp>
      <p:sp>
        <p:nvSpPr>
          <p:cNvPr id="1048699" name="Freeform 3"/>
          <p:cNvSpPr/>
          <p:nvPr/>
        </p:nvSpPr>
        <p:spPr>
          <a:xfrm rot="-5400000" flipH="0" flipV="0">
            <a:off x="13683459" y="9258300"/>
            <a:ext cx="2902990" cy="3303545"/>
          </a:xfrm>
          <a:custGeom>
            <a:avLst/>
            <a:ahLst/>
            <a:rect l="l" t="t" r="r" b="b"/>
            <a:pathLst>
              <a:path w="2902990" h="3303545">
                <a:moveTo>
                  <a:pt x="0" y="0"/>
                </a:moveTo>
                <a:lnTo>
                  <a:pt x="2902990" y="0"/>
                </a:lnTo>
                <a:lnTo>
                  <a:pt x="2902990" y="3303545"/>
                </a:lnTo>
                <a:lnTo>
                  <a:pt x="0" y="3303545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2"/>
            <a:stretch>
              <a:fillRect l="0" t="0" r="0" b="0"/>
            </a:stretch>
          </a:blipFill>
        </p:spPr>
      </p:sp>
      <p:sp>
        <p:nvSpPr>
          <p:cNvPr id="1048700" name="Freeform 4"/>
          <p:cNvSpPr/>
          <p:nvPr/>
        </p:nvSpPr>
        <p:spPr>
          <a:xfrm rot="0" flipH="0" flipV="0">
            <a:off x="15996331" y="8442824"/>
            <a:ext cx="2840504" cy="2623915"/>
          </a:xfrm>
          <a:custGeom>
            <a:avLst/>
            <a:ahLst/>
            <a:rect l="l" t="t" r="r" b="b"/>
            <a:pathLst>
              <a:path w="2840504" h="2623915">
                <a:moveTo>
                  <a:pt x="0" y="0"/>
                </a:moveTo>
                <a:lnTo>
                  <a:pt x="2840504" y="0"/>
                </a:lnTo>
                <a:lnTo>
                  <a:pt x="2840504" y="2623916"/>
                </a:lnTo>
                <a:lnTo>
                  <a:pt x="0" y="2623916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3"/>
            <a:stretch>
              <a:fillRect l="0" t="0" r="0" b="0"/>
            </a:stretch>
          </a:blipFill>
        </p:spPr>
      </p:sp>
      <p:sp>
        <p:nvSpPr>
          <p:cNvPr id="1048701" name="Freeform 5"/>
          <p:cNvSpPr/>
          <p:nvPr/>
        </p:nvSpPr>
        <p:spPr>
          <a:xfrm rot="735098" flipH="0" flipV="0">
            <a:off x="17210081" y="6359246"/>
            <a:ext cx="2136488" cy="1973581"/>
          </a:xfrm>
          <a:custGeom>
            <a:avLst/>
            <a:ahLst/>
            <a:rect l="l" t="t" r="r" b="b"/>
            <a:pathLst>
              <a:path w="2136488" h="1973581">
                <a:moveTo>
                  <a:pt x="0" y="0"/>
                </a:moveTo>
                <a:lnTo>
                  <a:pt x="2136488" y="0"/>
                </a:lnTo>
                <a:lnTo>
                  <a:pt x="2136488" y="1973581"/>
                </a:lnTo>
                <a:lnTo>
                  <a:pt x="0" y="1973581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3"/>
            <a:stretch>
              <a:fillRect l="0" t="0" r="0" b="0"/>
            </a:stretch>
          </a:blipFill>
        </p:spPr>
      </p:sp>
      <p:sp>
        <p:nvSpPr>
          <p:cNvPr id="1048702" name="Freeform 6"/>
          <p:cNvSpPr/>
          <p:nvPr/>
        </p:nvSpPr>
        <p:spPr>
          <a:xfrm rot="3880940" flipH="1" flipV="0">
            <a:off x="-1435362" y="779145"/>
            <a:ext cx="2769800" cy="4228703"/>
          </a:xfrm>
          <a:custGeom>
            <a:avLst/>
            <a:ahLst/>
            <a:rect l="l" t="t" r="r" b="b"/>
            <a:pathLst>
              <a:path w="2769800" h="4228703">
                <a:moveTo>
                  <a:pt x="2769800" y="0"/>
                </a:moveTo>
                <a:lnTo>
                  <a:pt x="0" y="0"/>
                </a:lnTo>
                <a:lnTo>
                  <a:pt x="0" y="4228703"/>
                </a:lnTo>
                <a:lnTo>
                  <a:pt x="2769800" y="4228703"/>
                </a:lnTo>
                <a:lnTo>
                  <a:pt x="2769800" y="0"/>
                </a:lnTo>
                <a:close/>
              </a:path>
            </a:pathLst>
          </a:custGeom>
          <a:blipFill>
            <a:blip xmlns:r="http://schemas.openxmlformats.org/officeDocument/2006/relationships" r:embed="rId4"/>
            <a:stretch>
              <a:fillRect l="0" t="0" r="0" b="0"/>
            </a:stretch>
          </a:blipFill>
        </p:spPr>
      </p:sp>
      <p:sp>
        <p:nvSpPr>
          <p:cNvPr id="1048703" name="Freeform 7"/>
          <p:cNvSpPr/>
          <p:nvPr/>
        </p:nvSpPr>
        <p:spPr>
          <a:xfrm rot="2700000" flipH="1" flipV="0">
            <a:off x="-1012971" y="-1794883"/>
            <a:ext cx="1568017" cy="3957141"/>
          </a:xfrm>
          <a:custGeom>
            <a:avLst/>
            <a:ahLst/>
            <a:rect l="l" t="t" r="r" b="b"/>
            <a:pathLst>
              <a:path w="1568017" h="3957141">
                <a:moveTo>
                  <a:pt x="1568017" y="0"/>
                </a:moveTo>
                <a:lnTo>
                  <a:pt x="0" y="0"/>
                </a:lnTo>
                <a:lnTo>
                  <a:pt x="0" y="3957140"/>
                </a:lnTo>
                <a:lnTo>
                  <a:pt x="1568017" y="3957140"/>
                </a:lnTo>
                <a:lnTo>
                  <a:pt x="1568017" y="0"/>
                </a:lnTo>
                <a:close/>
              </a:path>
            </a:pathLst>
          </a:custGeom>
          <a:blipFill>
            <a:blip xmlns:r="http://schemas.openxmlformats.org/officeDocument/2006/relationships" r:embed="rId5"/>
            <a:stretch>
              <a:fillRect l="0" t="0" r="0" b="0"/>
            </a:stretch>
          </a:blipFill>
        </p:spPr>
      </p:sp>
      <p:sp>
        <p:nvSpPr>
          <p:cNvPr id="1048704" name="Freeform 8"/>
          <p:cNvSpPr/>
          <p:nvPr/>
        </p:nvSpPr>
        <p:spPr>
          <a:xfrm rot="8862344" flipH="0" flipV="0">
            <a:off x="1055251" y="-2980210"/>
            <a:ext cx="4757812" cy="4634023"/>
          </a:xfrm>
          <a:custGeom>
            <a:avLst/>
            <a:ahLst/>
            <a:rect l="l" t="t" r="r" b="b"/>
            <a:pathLst>
              <a:path w="4757812" h="4634023">
                <a:moveTo>
                  <a:pt x="0" y="0"/>
                </a:moveTo>
                <a:lnTo>
                  <a:pt x="4757812" y="0"/>
                </a:lnTo>
                <a:lnTo>
                  <a:pt x="4757812" y="4634023"/>
                </a:lnTo>
                <a:lnTo>
                  <a:pt x="0" y="4634023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6"/>
            <a:stretch>
              <a:fillRect l="0" t="0" r="0" b="0"/>
            </a:stretch>
          </a:blipFill>
        </p:spPr>
      </p:sp>
      <p:sp>
        <p:nvSpPr>
          <p:cNvPr id="1048705" name="Freeform 9"/>
          <p:cNvSpPr/>
          <p:nvPr/>
        </p:nvSpPr>
        <p:spPr>
          <a:xfrm rot="0" flipH="0" flipV="0">
            <a:off x="12897254" y="-4151298"/>
            <a:ext cx="7220316" cy="6949554"/>
          </a:xfrm>
          <a:custGeom>
            <a:avLst/>
            <a:ahLst/>
            <a:rect l="l" t="t" r="r" b="b"/>
            <a:pathLst>
              <a:path w="7220316" h="6949554">
                <a:moveTo>
                  <a:pt x="0" y="0"/>
                </a:moveTo>
                <a:lnTo>
                  <a:pt x="7220316" y="0"/>
                </a:lnTo>
                <a:lnTo>
                  <a:pt x="7220316" y="6949554"/>
                </a:lnTo>
                <a:lnTo>
                  <a:pt x="0" y="694955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7"/>
            <a:stretch>
              <a:fillRect l="0" t="0" r="0" b="0"/>
            </a:stretch>
          </a:blipFill>
        </p:spPr>
      </p:sp>
      <p:sp>
        <p:nvSpPr>
          <p:cNvPr id="1048706" name="Freeform 10"/>
          <p:cNvSpPr/>
          <p:nvPr/>
        </p:nvSpPr>
        <p:spPr>
          <a:xfrm rot="0" flipH="0" flipV="0">
            <a:off x="-2956983" y="7717344"/>
            <a:ext cx="7467517" cy="7187485"/>
          </a:xfrm>
          <a:custGeom>
            <a:avLst/>
            <a:ahLst/>
            <a:rect l="l" t="t" r="r" b="b"/>
            <a:pathLst>
              <a:path w="7467517" h="7187485">
                <a:moveTo>
                  <a:pt x="0" y="0"/>
                </a:moveTo>
                <a:lnTo>
                  <a:pt x="7467516" y="0"/>
                </a:lnTo>
                <a:lnTo>
                  <a:pt x="7467516" y="7187484"/>
                </a:lnTo>
                <a:lnTo>
                  <a:pt x="0" y="718748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7"/>
            <a:stretch>
              <a:fillRect l="0" t="0" r="0" b="0"/>
            </a:stretch>
          </a:blipFill>
        </p:spPr>
      </p:sp>
      <p:sp>
        <p:nvSpPr>
          <p:cNvPr id="1048707" name="Freeform 11"/>
          <p:cNvSpPr/>
          <p:nvPr/>
        </p:nvSpPr>
        <p:spPr>
          <a:xfrm rot="0" flipH="0" flipV="0">
            <a:off x="-513330" y="7997490"/>
            <a:ext cx="3189446" cy="7187485"/>
          </a:xfrm>
          <a:custGeom>
            <a:avLst/>
            <a:ahLst/>
            <a:rect l="l" t="t" r="r" b="b"/>
            <a:pathLst>
              <a:path w="3189446" h="7187485">
                <a:moveTo>
                  <a:pt x="0" y="0"/>
                </a:moveTo>
                <a:lnTo>
                  <a:pt x="3189447" y="0"/>
                </a:lnTo>
                <a:lnTo>
                  <a:pt x="3189447" y="7187484"/>
                </a:lnTo>
                <a:lnTo>
                  <a:pt x="0" y="718748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8"/>
            <a:stretch>
              <a:fillRect l="0" t="0" r="0" b="0"/>
            </a:stretch>
          </a:blipFill>
        </p:spPr>
      </p:sp>
      <p:sp>
        <p:nvSpPr>
          <p:cNvPr id="1048708" name="Freeform 12"/>
          <p:cNvSpPr/>
          <p:nvPr/>
        </p:nvSpPr>
        <p:spPr>
          <a:xfrm rot="0" flipH="0" flipV="1">
            <a:off x="15487811" y="-4650415"/>
            <a:ext cx="3083865" cy="6949554"/>
          </a:xfrm>
          <a:custGeom>
            <a:avLst/>
            <a:ahLst/>
            <a:rect l="l" t="t" r="r" b="b"/>
            <a:pathLst>
              <a:path w="3083865" h="6949554">
                <a:moveTo>
                  <a:pt x="0" y="6949554"/>
                </a:moveTo>
                <a:lnTo>
                  <a:pt x="3083865" y="6949554"/>
                </a:lnTo>
                <a:lnTo>
                  <a:pt x="3083865" y="0"/>
                </a:lnTo>
                <a:lnTo>
                  <a:pt x="0" y="0"/>
                </a:lnTo>
                <a:lnTo>
                  <a:pt x="0" y="6949554"/>
                </a:lnTo>
                <a:close/>
              </a:path>
            </a:pathLst>
          </a:custGeom>
          <a:blipFill>
            <a:blip xmlns:r="http://schemas.openxmlformats.org/officeDocument/2006/relationships" r:embed="rId8"/>
            <a:stretch>
              <a:fillRect l="0" t="0" r="0" b="0"/>
            </a:stretch>
          </a:blipFill>
        </p:spPr>
      </p:sp>
      <p:sp>
        <p:nvSpPr>
          <p:cNvPr id="1048709" name="TextBox 13"/>
          <p:cNvSpPr txBox="1"/>
          <p:nvPr/>
        </p:nvSpPr>
        <p:spPr>
          <a:xfrm rot="0">
            <a:off x="4248282" y="565991"/>
            <a:ext cx="9791436" cy="1491539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12177"/>
              </a:lnSpc>
            </a:pPr>
            <a:r>
              <a:rPr sz="8698" lang="en-US">
                <a:solidFill>
                  <a:srgbClr val="6E4823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ANALYSIS</a:t>
            </a:r>
          </a:p>
        </p:txBody>
      </p:sp>
      <p:sp>
        <p:nvSpPr>
          <p:cNvPr id="1048710" name="TextBox 14"/>
          <p:cNvSpPr txBox="1"/>
          <p:nvPr/>
        </p:nvSpPr>
        <p:spPr>
          <a:xfrm rot="0">
            <a:off x="39933" y="2683956"/>
            <a:ext cx="17376650" cy="5485221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7257"/>
              </a:lnSpc>
            </a:pPr>
            <a:r>
              <a:rPr sz="5184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#Input 220V in charging.</a:t>
            </a:r>
          </a:p>
          <a:p>
            <a:pPr algn="ctr">
              <a:lnSpc>
                <a:spcPts val="7257"/>
              </a:lnSpc>
            </a:pPr>
            <a:r>
              <a:rPr sz="5184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#output 36V in recived in two batteries.</a:t>
            </a:r>
          </a:p>
          <a:p>
            <a:pPr algn="ctr">
              <a:lnSpc>
                <a:spcPts val="7257"/>
              </a:lnSpc>
            </a:pPr>
            <a:r>
              <a:rPr sz="5184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#it is increasing the travel time.</a:t>
            </a:r>
          </a:p>
          <a:p>
            <a:pPr algn="ctr">
              <a:lnSpc>
                <a:spcPts val="7257"/>
              </a:lnSpc>
            </a:pPr>
            <a:r>
              <a:rPr sz="5184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# completely reduced the heat.</a:t>
            </a:r>
          </a:p>
          <a:p>
            <a:pPr algn="ctr">
              <a:lnSpc>
                <a:spcPts val="7257"/>
              </a:lnSpc>
            </a:pPr>
          </a:p>
          <a:p>
            <a:pPr algn="ctr">
              <a:lnSpc>
                <a:spcPts val="7257"/>
              </a:lnSpc>
              <a:spcBef>
                <a:spcPct val="0"/>
              </a:spcBef>
            </a:pPr>
            <a:r>
              <a:rPr sz="5184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#it is increasing cost of battery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1" name="Freeform 2"/>
          <p:cNvSpPr/>
          <p:nvPr/>
        </p:nvSpPr>
        <p:spPr>
          <a:xfrm rot="0" flipH="0" flipV="0">
            <a:off x="0" y="0"/>
            <a:ext cx="18288000" cy="10287000"/>
          </a:xfrm>
          <a:custGeom>
            <a:avLst/>
            <a:ah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-38888" r="0" b="-38888"/>
            </a:stretch>
          </a:blipFill>
        </p:spPr>
      </p:sp>
      <p:sp>
        <p:nvSpPr>
          <p:cNvPr id="1048712" name="Freeform 3"/>
          <p:cNvSpPr/>
          <p:nvPr/>
        </p:nvSpPr>
        <p:spPr>
          <a:xfrm rot="-5400000" flipH="0" flipV="0">
            <a:off x="13683459" y="9258300"/>
            <a:ext cx="2902990" cy="3303545"/>
          </a:xfrm>
          <a:custGeom>
            <a:avLst/>
            <a:ahLst/>
            <a:rect l="l" t="t" r="r" b="b"/>
            <a:pathLst>
              <a:path w="2902990" h="3303545">
                <a:moveTo>
                  <a:pt x="0" y="0"/>
                </a:moveTo>
                <a:lnTo>
                  <a:pt x="2902990" y="0"/>
                </a:lnTo>
                <a:lnTo>
                  <a:pt x="2902990" y="3303545"/>
                </a:lnTo>
                <a:lnTo>
                  <a:pt x="0" y="3303545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2"/>
            <a:stretch>
              <a:fillRect l="0" t="0" r="0" b="0"/>
            </a:stretch>
          </a:blipFill>
        </p:spPr>
      </p:sp>
      <p:sp>
        <p:nvSpPr>
          <p:cNvPr id="1048713" name="Freeform 4"/>
          <p:cNvSpPr/>
          <p:nvPr/>
        </p:nvSpPr>
        <p:spPr>
          <a:xfrm rot="0" flipH="0" flipV="0">
            <a:off x="15996331" y="8442824"/>
            <a:ext cx="2840504" cy="2623915"/>
          </a:xfrm>
          <a:custGeom>
            <a:avLst/>
            <a:ahLst/>
            <a:rect l="l" t="t" r="r" b="b"/>
            <a:pathLst>
              <a:path w="2840504" h="2623915">
                <a:moveTo>
                  <a:pt x="0" y="0"/>
                </a:moveTo>
                <a:lnTo>
                  <a:pt x="2840504" y="0"/>
                </a:lnTo>
                <a:lnTo>
                  <a:pt x="2840504" y="2623916"/>
                </a:lnTo>
                <a:lnTo>
                  <a:pt x="0" y="2623916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3"/>
            <a:stretch>
              <a:fillRect l="0" t="0" r="0" b="0"/>
            </a:stretch>
          </a:blipFill>
        </p:spPr>
      </p:sp>
      <p:sp>
        <p:nvSpPr>
          <p:cNvPr id="1048714" name="Freeform 5"/>
          <p:cNvSpPr/>
          <p:nvPr/>
        </p:nvSpPr>
        <p:spPr>
          <a:xfrm rot="735098" flipH="0" flipV="0">
            <a:off x="17210081" y="6359246"/>
            <a:ext cx="2136488" cy="1973581"/>
          </a:xfrm>
          <a:custGeom>
            <a:avLst/>
            <a:ahLst/>
            <a:rect l="l" t="t" r="r" b="b"/>
            <a:pathLst>
              <a:path w="2136488" h="1973581">
                <a:moveTo>
                  <a:pt x="0" y="0"/>
                </a:moveTo>
                <a:lnTo>
                  <a:pt x="2136488" y="0"/>
                </a:lnTo>
                <a:lnTo>
                  <a:pt x="2136488" y="1973581"/>
                </a:lnTo>
                <a:lnTo>
                  <a:pt x="0" y="1973581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3"/>
            <a:stretch>
              <a:fillRect l="0" t="0" r="0" b="0"/>
            </a:stretch>
          </a:blipFill>
        </p:spPr>
      </p:sp>
      <p:sp>
        <p:nvSpPr>
          <p:cNvPr id="1048715" name="Freeform 6"/>
          <p:cNvSpPr/>
          <p:nvPr/>
        </p:nvSpPr>
        <p:spPr>
          <a:xfrm rot="3880940" flipH="1" flipV="0">
            <a:off x="-1435362" y="779145"/>
            <a:ext cx="2769800" cy="4228703"/>
          </a:xfrm>
          <a:custGeom>
            <a:avLst/>
            <a:ahLst/>
            <a:rect l="l" t="t" r="r" b="b"/>
            <a:pathLst>
              <a:path w="2769800" h="4228703">
                <a:moveTo>
                  <a:pt x="2769800" y="0"/>
                </a:moveTo>
                <a:lnTo>
                  <a:pt x="0" y="0"/>
                </a:lnTo>
                <a:lnTo>
                  <a:pt x="0" y="4228703"/>
                </a:lnTo>
                <a:lnTo>
                  <a:pt x="2769800" y="4228703"/>
                </a:lnTo>
                <a:lnTo>
                  <a:pt x="2769800" y="0"/>
                </a:lnTo>
                <a:close/>
              </a:path>
            </a:pathLst>
          </a:custGeom>
          <a:blipFill>
            <a:blip xmlns:r="http://schemas.openxmlformats.org/officeDocument/2006/relationships" r:embed="rId4"/>
            <a:stretch>
              <a:fillRect l="0" t="0" r="0" b="0"/>
            </a:stretch>
          </a:blipFill>
        </p:spPr>
      </p:sp>
      <p:sp>
        <p:nvSpPr>
          <p:cNvPr id="1048716" name="Freeform 7"/>
          <p:cNvSpPr/>
          <p:nvPr/>
        </p:nvSpPr>
        <p:spPr>
          <a:xfrm rot="2700000" flipH="1" flipV="0">
            <a:off x="-1012971" y="-1794883"/>
            <a:ext cx="1568017" cy="3957141"/>
          </a:xfrm>
          <a:custGeom>
            <a:avLst/>
            <a:ahLst/>
            <a:rect l="l" t="t" r="r" b="b"/>
            <a:pathLst>
              <a:path w="1568017" h="3957141">
                <a:moveTo>
                  <a:pt x="1568017" y="0"/>
                </a:moveTo>
                <a:lnTo>
                  <a:pt x="0" y="0"/>
                </a:lnTo>
                <a:lnTo>
                  <a:pt x="0" y="3957140"/>
                </a:lnTo>
                <a:lnTo>
                  <a:pt x="1568017" y="3957140"/>
                </a:lnTo>
                <a:lnTo>
                  <a:pt x="1568017" y="0"/>
                </a:lnTo>
                <a:close/>
              </a:path>
            </a:pathLst>
          </a:custGeom>
          <a:blipFill>
            <a:blip xmlns:r="http://schemas.openxmlformats.org/officeDocument/2006/relationships" r:embed="rId5"/>
            <a:stretch>
              <a:fillRect l="0" t="0" r="0" b="0"/>
            </a:stretch>
          </a:blipFill>
        </p:spPr>
      </p:sp>
      <p:sp>
        <p:nvSpPr>
          <p:cNvPr id="1048717" name="Freeform 8"/>
          <p:cNvSpPr/>
          <p:nvPr/>
        </p:nvSpPr>
        <p:spPr>
          <a:xfrm rot="8862344" flipH="0" flipV="0">
            <a:off x="1055251" y="-2980210"/>
            <a:ext cx="4757812" cy="4634023"/>
          </a:xfrm>
          <a:custGeom>
            <a:avLst/>
            <a:ahLst/>
            <a:rect l="l" t="t" r="r" b="b"/>
            <a:pathLst>
              <a:path w="4757812" h="4634023">
                <a:moveTo>
                  <a:pt x="0" y="0"/>
                </a:moveTo>
                <a:lnTo>
                  <a:pt x="4757812" y="0"/>
                </a:lnTo>
                <a:lnTo>
                  <a:pt x="4757812" y="4634023"/>
                </a:lnTo>
                <a:lnTo>
                  <a:pt x="0" y="4634023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6"/>
            <a:stretch>
              <a:fillRect l="0" t="0" r="0" b="0"/>
            </a:stretch>
          </a:blipFill>
        </p:spPr>
      </p:sp>
      <p:sp>
        <p:nvSpPr>
          <p:cNvPr id="1048718" name="Freeform 9"/>
          <p:cNvSpPr/>
          <p:nvPr/>
        </p:nvSpPr>
        <p:spPr>
          <a:xfrm rot="0" flipH="0" flipV="0">
            <a:off x="12897254" y="-4151298"/>
            <a:ext cx="7220316" cy="6949554"/>
          </a:xfrm>
          <a:custGeom>
            <a:avLst/>
            <a:ahLst/>
            <a:rect l="l" t="t" r="r" b="b"/>
            <a:pathLst>
              <a:path w="7220316" h="6949554">
                <a:moveTo>
                  <a:pt x="0" y="0"/>
                </a:moveTo>
                <a:lnTo>
                  <a:pt x="7220316" y="0"/>
                </a:lnTo>
                <a:lnTo>
                  <a:pt x="7220316" y="6949554"/>
                </a:lnTo>
                <a:lnTo>
                  <a:pt x="0" y="694955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7"/>
            <a:stretch>
              <a:fillRect l="0" t="0" r="0" b="0"/>
            </a:stretch>
          </a:blipFill>
        </p:spPr>
      </p:sp>
      <p:sp>
        <p:nvSpPr>
          <p:cNvPr id="1048719" name="Freeform 10"/>
          <p:cNvSpPr/>
          <p:nvPr/>
        </p:nvSpPr>
        <p:spPr>
          <a:xfrm rot="0" flipH="0" flipV="0">
            <a:off x="-2956983" y="7717344"/>
            <a:ext cx="7467517" cy="7187485"/>
          </a:xfrm>
          <a:custGeom>
            <a:avLst/>
            <a:ahLst/>
            <a:rect l="l" t="t" r="r" b="b"/>
            <a:pathLst>
              <a:path w="7467517" h="7187485">
                <a:moveTo>
                  <a:pt x="0" y="0"/>
                </a:moveTo>
                <a:lnTo>
                  <a:pt x="7467516" y="0"/>
                </a:lnTo>
                <a:lnTo>
                  <a:pt x="7467516" y="7187484"/>
                </a:lnTo>
                <a:lnTo>
                  <a:pt x="0" y="718748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7"/>
            <a:stretch>
              <a:fillRect l="0" t="0" r="0" b="0"/>
            </a:stretch>
          </a:blipFill>
        </p:spPr>
      </p:sp>
      <p:sp>
        <p:nvSpPr>
          <p:cNvPr id="1048720" name="Freeform 11"/>
          <p:cNvSpPr/>
          <p:nvPr/>
        </p:nvSpPr>
        <p:spPr>
          <a:xfrm rot="0" flipH="0" flipV="0">
            <a:off x="-513330" y="7997490"/>
            <a:ext cx="3189446" cy="7187485"/>
          </a:xfrm>
          <a:custGeom>
            <a:avLst/>
            <a:ahLst/>
            <a:rect l="l" t="t" r="r" b="b"/>
            <a:pathLst>
              <a:path w="3189446" h="7187485">
                <a:moveTo>
                  <a:pt x="0" y="0"/>
                </a:moveTo>
                <a:lnTo>
                  <a:pt x="3189447" y="0"/>
                </a:lnTo>
                <a:lnTo>
                  <a:pt x="3189447" y="7187484"/>
                </a:lnTo>
                <a:lnTo>
                  <a:pt x="0" y="718748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8"/>
            <a:stretch>
              <a:fillRect l="0" t="0" r="0" b="0"/>
            </a:stretch>
          </a:blipFill>
        </p:spPr>
      </p:sp>
      <p:sp>
        <p:nvSpPr>
          <p:cNvPr id="1048721" name="Freeform 12"/>
          <p:cNvSpPr/>
          <p:nvPr/>
        </p:nvSpPr>
        <p:spPr>
          <a:xfrm rot="0" flipH="0" flipV="1">
            <a:off x="15487811" y="-4650415"/>
            <a:ext cx="3083865" cy="6949554"/>
          </a:xfrm>
          <a:custGeom>
            <a:avLst/>
            <a:ahLst/>
            <a:rect l="l" t="t" r="r" b="b"/>
            <a:pathLst>
              <a:path w="3083865" h="6949554">
                <a:moveTo>
                  <a:pt x="0" y="6949554"/>
                </a:moveTo>
                <a:lnTo>
                  <a:pt x="3083865" y="6949554"/>
                </a:lnTo>
                <a:lnTo>
                  <a:pt x="3083865" y="0"/>
                </a:lnTo>
                <a:lnTo>
                  <a:pt x="0" y="0"/>
                </a:lnTo>
                <a:lnTo>
                  <a:pt x="0" y="6949554"/>
                </a:lnTo>
                <a:close/>
              </a:path>
            </a:pathLst>
          </a:custGeom>
          <a:blipFill>
            <a:blip xmlns:r="http://schemas.openxmlformats.org/officeDocument/2006/relationships" r:embed="rId8"/>
            <a:stretch>
              <a:fillRect l="0" t="0" r="0" b="0"/>
            </a:stretch>
          </a:blipFill>
        </p:spPr>
      </p:sp>
      <p:sp>
        <p:nvSpPr>
          <p:cNvPr id="1048722" name="Freeform 13"/>
          <p:cNvSpPr/>
          <p:nvPr/>
        </p:nvSpPr>
        <p:spPr>
          <a:xfrm rot="0" flipH="0" flipV="0">
            <a:off x="11216164" y="4894706"/>
            <a:ext cx="5379774" cy="4363594"/>
          </a:xfrm>
          <a:custGeom>
            <a:avLst/>
            <a:ahLst/>
            <a:rect l="l" t="t" r="r" b="b"/>
            <a:pathLst>
              <a:path w="5379774" h="4363594">
                <a:moveTo>
                  <a:pt x="0" y="0"/>
                </a:moveTo>
                <a:lnTo>
                  <a:pt x="5379773" y="0"/>
                </a:lnTo>
                <a:lnTo>
                  <a:pt x="5379773" y="4363594"/>
                </a:lnTo>
                <a:lnTo>
                  <a:pt x="0" y="436359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9"/>
            <a:stretch>
              <a:fillRect l="0" t="0" r="0" b="0"/>
            </a:stretch>
          </a:blipFill>
        </p:spPr>
      </p:sp>
      <p:sp>
        <p:nvSpPr>
          <p:cNvPr id="1048723" name="Freeform 14"/>
          <p:cNvSpPr/>
          <p:nvPr/>
        </p:nvSpPr>
        <p:spPr>
          <a:xfrm rot="0" flipH="0" flipV="0">
            <a:off x="5378280" y="6706166"/>
            <a:ext cx="3683144" cy="3580834"/>
          </a:xfrm>
          <a:custGeom>
            <a:avLst/>
            <a:ahLst/>
            <a:rect l="l" t="t" r="r" b="b"/>
            <a:pathLst>
              <a:path w="3683144" h="3580834">
                <a:moveTo>
                  <a:pt x="0" y="0"/>
                </a:moveTo>
                <a:lnTo>
                  <a:pt x="3683144" y="0"/>
                </a:lnTo>
                <a:lnTo>
                  <a:pt x="3683144" y="3580834"/>
                </a:lnTo>
                <a:lnTo>
                  <a:pt x="0" y="358083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0"/>
            <a:stretch>
              <a:fillRect l="0" t="0" r="0" b="0"/>
            </a:stretch>
          </a:blipFill>
        </p:spPr>
      </p:sp>
      <p:sp>
        <p:nvSpPr>
          <p:cNvPr id="1048724" name="TextBox 15"/>
          <p:cNvSpPr txBox="1"/>
          <p:nvPr/>
        </p:nvSpPr>
        <p:spPr>
          <a:xfrm rot="0">
            <a:off x="2453041" y="1306717"/>
            <a:ext cx="11453010" cy="1491539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12177"/>
              </a:lnSpc>
            </a:pPr>
            <a:r>
              <a:rPr sz="8698" lang="en-US">
                <a:solidFill>
                  <a:srgbClr val="6E4823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RESULT</a:t>
            </a:r>
          </a:p>
        </p:txBody>
      </p:sp>
      <p:sp>
        <p:nvSpPr>
          <p:cNvPr id="1048725" name="TextBox 16"/>
          <p:cNvSpPr txBox="1"/>
          <p:nvPr/>
        </p:nvSpPr>
        <p:spPr>
          <a:xfrm rot="0">
            <a:off x="3606211" y="3411294"/>
            <a:ext cx="13810372" cy="2881098"/>
          </a:xfrm>
          <a:prstGeom prst="rect"/>
        </p:spPr>
        <p:txBody>
          <a:bodyPr anchor="t" bIns="0" lIns="0" rIns="0" rtlCol="0" tIns="0">
            <a:spAutoFit/>
          </a:bodyPr>
          <a:p>
            <a:pPr algn="l" indent="-444764" lvl="1" marL="889527">
              <a:lnSpc>
                <a:spcPts val="5768"/>
              </a:lnSpc>
              <a:buFont typeface="Arial"/>
              <a:buChar char="•"/>
            </a:pPr>
            <a:r>
              <a:rPr sz="4120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reduce the heating in traveling time.</a:t>
            </a:r>
          </a:p>
          <a:p>
            <a:pPr algn="l" indent="-444764" lvl="1" marL="889527">
              <a:lnSpc>
                <a:spcPts val="5768"/>
              </a:lnSpc>
              <a:buFont typeface="Arial"/>
              <a:buChar char="•"/>
            </a:pPr>
            <a:r>
              <a:rPr sz="4120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life time increase.</a:t>
            </a:r>
          </a:p>
          <a:p>
            <a:pPr algn="l" indent="-444764" lvl="1" marL="889527">
              <a:lnSpc>
                <a:spcPts val="5768"/>
              </a:lnSpc>
              <a:buFont typeface="Arial"/>
              <a:buChar char="•"/>
            </a:pPr>
            <a:r>
              <a:rPr sz="4120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quick charging.</a:t>
            </a:r>
          </a:p>
          <a:p>
            <a:pPr algn="l" indent="-444764" lvl="1" marL="889527">
              <a:lnSpc>
                <a:spcPts val="5768"/>
              </a:lnSpc>
              <a:buFont typeface="Arial"/>
              <a:buChar char="•"/>
            </a:pPr>
            <a:r>
              <a:rPr sz="4120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Charge level stable.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6" name="Freeform 2"/>
          <p:cNvSpPr/>
          <p:nvPr/>
        </p:nvSpPr>
        <p:spPr>
          <a:xfrm rot="0" flipH="0" flipV="0">
            <a:off x="0" y="0"/>
            <a:ext cx="18288000" cy="10287000"/>
          </a:xfrm>
          <a:custGeom>
            <a:avLst/>
            <a:ah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-38888" r="0" b="-38888"/>
            </a:stretch>
          </a:blipFill>
        </p:spPr>
      </p:sp>
      <p:sp>
        <p:nvSpPr>
          <p:cNvPr id="1048727" name="Freeform 3"/>
          <p:cNvSpPr/>
          <p:nvPr/>
        </p:nvSpPr>
        <p:spPr>
          <a:xfrm rot="-5400000" flipH="0" flipV="0">
            <a:off x="13683459" y="9258300"/>
            <a:ext cx="2902990" cy="3303545"/>
          </a:xfrm>
          <a:custGeom>
            <a:avLst/>
            <a:ahLst/>
            <a:rect l="l" t="t" r="r" b="b"/>
            <a:pathLst>
              <a:path w="2902990" h="3303545">
                <a:moveTo>
                  <a:pt x="0" y="0"/>
                </a:moveTo>
                <a:lnTo>
                  <a:pt x="2902990" y="0"/>
                </a:lnTo>
                <a:lnTo>
                  <a:pt x="2902990" y="3303545"/>
                </a:lnTo>
                <a:lnTo>
                  <a:pt x="0" y="3303545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2"/>
            <a:stretch>
              <a:fillRect l="0" t="0" r="0" b="0"/>
            </a:stretch>
          </a:blipFill>
        </p:spPr>
      </p:sp>
      <p:sp>
        <p:nvSpPr>
          <p:cNvPr id="1048728" name="Freeform 4"/>
          <p:cNvSpPr/>
          <p:nvPr/>
        </p:nvSpPr>
        <p:spPr>
          <a:xfrm rot="0" flipH="0" flipV="0">
            <a:off x="15996331" y="8442824"/>
            <a:ext cx="2840504" cy="2623915"/>
          </a:xfrm>
          <a:custGeom>
            <a:avLst/>
            <a:ahLst/>
            <a:rect l="l" t="t" r="r" b="b"/>
            <a:pathLst>
              <a:path w="2840504" h="2623915">
                <a:moveTo>
                  <a:pt x="0" y="0"/>
                </a:moveTo>
                <a:lnTo>
                  <a:pt x="2840504" y="0"/>
                </a:lnTo>
                <a:lnTo>
                  <a:pt x="2840504" y="2623916"/>
                </a:lnTo>
                <a:lnTo>
                  <a:pt x="0" y="2623916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3"/>
            <a:stretch>
              <a:fillRect l="0" t="0" r="0" b="0"/>
            </a:stretch>
          </a:blipFill>
        </p:spPr>
      </p:sp>
      <p:sp>
        <p:nvSpPr>
          <p:cNvPr id="1048729" name="Freeform 5"/>
          <p:cNvSpPr/>
          <p:nvPr/>
        </p:nvSpPr>
        <p:spPr>
          <a:xfrm rot="735098" flipH="0" flipV="0">
            <a:off x="17210081" y="6359246"/>
            <a:ext cx="2136488" cy="1973581"/>
          </a:xfrm>
          <a:custGeom>
            <a:avLst/>
            <a:ahLst/>
            <a:rect l="l" t="t" r="r" b="b"/>
            <a:pathLst>
              <a:path w="2136488" h="1973581">
                <a:moveTo>
                  <a:pt x="0" y="0"/>
                </a:moveTo>
                <a:lnTo>
                  <a:pt x="2136488" y="0"/>
                </a:lnTo>
                <a:lnTo>
                  <a:pt x="2136488" y="1973581"/>
                </a:lnTo>
                <a:lnTo>
                  <a:pt x="0" y="1973581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3"/>
            <a:stretch>
              <a:fillRect l="0" t="0" r="0" b="0"/>
            </a:stretch>
          </a:blipFill>
        </p:spPr>
      </p:sp>
      <p:sp>
        <p:nvSpPr>
          <p:cNvPr id="1048730" name="Freeform 6"/>
          <p:cNvSpPr/>
          <p:nvPr/>
        </p:nvSpPr>
        <p:spPr>
          <a:xfrm rot="3880940" flipH="1" flipV="0">
            <a:off x="-1435362" y="779145"/>
            <a:ext cx="2769800" cy="4228703"/>
          </a:xfrm>
          <a:custGeom>
            <a:avLst/>
            <a:ahLst/>
            <a:rect l="l" t="t" r="r" b="b"/>
            <a:pathLst>
              <a:path w="2769800" h="4228703">
                <a:moveTo>
                  <a:pt x="2769800" y="0"/>
                </a:moveTo>
                <a:lnTo>
                  <a:pt x="0" y="0"/>
                </a:lnTo>
                <a:lnTo>
                  <a:pt x="0" y="4228703"/>
                </a:lnTo>
                <a:lnTo>
                  <a:pt x="2769800" y="4228703"/>
                </a:lnTo>
                <a:lnTo>
                  <a:pt x="2769800" y="0"/>
                </a:lnTo>
                <a:close/>
              </a:path>
            </a:pathLst>
          </a:custGeom>
          <a:blipFill>
            <a:blip xmlns:r="http://schemas.openxmlformats.org/officeDocument/2006/relationships" r:embed="rId4"/>
            <a:stretch>
              <a:fillRect l="0" t="0" r="0" b="0"/>
            </a:stretch>
          </a:blipFill>
        </p:spPr>
      </p:sp>
      <p:sp>
        <p:nvSpPr>
          <p:cNvPr id="1048731" name="Freeform 7"/>
          <p:cNvSpPr/>
          <p:nvPr/>
        </p:nvSpPr>
        <p:spPr>
          <a:xfrm rot="2700000" flipH="1" flipV="0">
            <a:off x="-1012971" y="-1794883"/>
            <a:ext cx="1568017" cy="3957141"/>
          </a:xfrm>
          <a:custGeom>
            <a:avLst/>
            <a:ahLst/>
            <a:rect l="l" t="t" r="r" b="b"/>
            <a:pathLst>
              <a:path w="1568017" h="3957141">
                <a:moveTo>
                  <a:pt x="1568017" y="0"/>
                </a:moveTo>
                <a:lnTo>
                  <a:pt x="0" y="0"/>
                </a:lnTo>
                <a:lnTo>
                  <a:pt x="0" y="3957140"/>
                </a:lnTo>
                <a:lnTo>
                  <a:pt x="1568017" y="3957140"/>
                </a:lnTo>
                <a:lnTo>
                  <a:pt x="1568017" y="0"/>
                </a:lnTo>
                <a:close/>
              </a:path>
            </a:pathLst>
          </a:custGeom>
          <a:blipFill>
            <a:blip xmlns:r="http://schemas.openxmlformats.org/officeDocument/2006/relationships" r:embed="rId5"/>
            <a:stretch>
              <a:fillRect l="0" t="0" r="0" b="0"/>
            </a:stretch>
          </a:blipFill>
        </p:spPr>
      </p:sp>
      <p:sp>
        <p:nvSpPr>
          <p:cNvPr id="1048732" name="Freeform 8"/>
          <p:cNvSpPr/>
          <p:nvPr/>
        </p:nvSpPr>
        <p:spPr>
          <a:xfrm rot="8862344" flipH="0" flipV="0">
            <a:off x="1055251" y="-2980210"/>
            <a:ext cx="4757812" cy="4634023"/>
          </a:xfrm>
          <a:custGeom>
            <a:avLst/>
            <a:ahLst/>
            <a:rect l="l" t="t" r="r" b="b"/>
            <a:pathLst>
              <a:path w="4757812" h="4634023">
                <a:moveTo>
                  <a:pt x="0" y="0"/>
                </a:moveTo>
                <a:lnTo>
                  <a:pt x="4757812" y="0"/>
                </a:lnTo>
                <a:lnTo>
                  <a:pt x="4757812" y="4634023"/>
                </a:lnTo>
                <a:lnTo>
                  <a:pt x="0" y="4634023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6"/>
            <a:stretch>
              <a:fillRect l="0" t="0" r="0" b="0"/>
            </a:stretch>
          </a:blipFill>
        </p:spPr>
      </p:sp>
      <p:sp>
        <p:nvSpPr>
          <p:cNvPr id="1048733" name="Freeform 9"/>
          <p:cNvSpPr/>
          <p:nvPr/>
        </p:nvSpPr>
        <p:spPr>
          <a:xfrm rot="0" flipH="0" flipV="0">
            <a:off x="12897254" y="-4151298"/>
            <a:ext cx="7220316" cy="6949554"/>
          </a:xfrm>
          <a:custGeom>
            <a:avLst/>
            <a:ahLst/>
            <a:rect l="l" t="t" r="r" b="b"/>
            <a:pathLst>
              <a:path w="7220316" h="6949554">
                <a:moveTo>
                  <a:pt x="0" y="0"/>
                </a:moveTo>
                <a:lnTo>
                  <a:pt x="7220316" y="0"/>
                </a:lnTo>
                <a:lnTo>
                  <a:pt x="7220316" y="6949554"/>
                </a:lnTo>
                <a:lnTo>
                  <a:pt x="0" y="694955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7"/>
            <a:stretch>
              <a:fillRect l="0" t="0" r="0" b="0"/>
            </a:stretch>
          </a:blipFill>
        </p:spPr>
      </p:sp>
      <p:sp>
        <p:nvSpPr>
          <p:cNvPr id="1048734" name="Freeform 10"/>
          <p:cNvSpPr/>
          <p:nvPr/>
        </p:nvSpPr>
        <p:spPr>
          <a:xfrm rot="0" flipH="0" flipV="0">
            <a:off x="-2956983" y="7717344"/>
            <a:ext cx="7467517" cy="7187485"/>
          </a:xfrm>
          <a:custGeom>
            <a:avLst/>
            <a:ahLst/>
            <a:rect l="l" t="t" r="r" b="b"/>
            <a:pathLst>
              <a:path w="7467517" h="7187485">
                <a:moveTo>
                  <a:pt x="0" y="0"/>
                </a:moveTo>
                <a:lnTo>
                  <a:pt x="7467516" y="0"/>
                </a:lnTo>
                <a:lnTo>
                  <a:pt x="7467516" y="7187484"/>
                </a:lnTo>
                <a:lnTo>
                  <a:pt x="0" y="718748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7"/>
            <a:stretch>
              <a:fillRect l="0" t="0" r="0" b="0"/>
            </a:stretch>
          </a:blipFill>
        </p:spPr>
      </p:sp>
      <p:sp>
        <p:nvSpPr>
          <p:cNvPr id="1048735" name="Freeform 11"/>
          <p:cNvSpPr/>
          <p:nvPr/>
        </p:nvSpPr>
        <p:spPr>
          <a:xfrm rot="0" flipH="0" flipV="0">
            <a:off x="-513330" y="7997490"/>
            <a:ext cx="3189446" cy="7187485"/>
          </a:xfrm>
          <a:custGeom>
            <a:avLst/>
            <a:ahLst/>
            <a:rect l="l" t="t" r="r" b="b"/>
            <a:pathLst>
              <a:path w="3189446" h="7187485">
                <a:moveTo>
                  <a:pt x="0" y="0"/>
                </a:moveTo>
                <a:lnTo>
                  <a:pt x="3189447" y="0"/>
                </a:lnTo>
                <a:lnTo>
                  <a:pt x="3189447" y="7187484"/>
                </a:lnTo>
                <a:lnTo>
                  <a:pt x="0" y="718748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8"/>
            <a:stretch>
              <a:fillRect l="0" t="0" r="0" b="0"/>
            </a:stretch>
          </a:blipFill>
        </p:spPr>
      </p:sp>
      <p:sp>
        <p:nvSpPr>
          <p:cNvPr id="1048736" name="Freeform 12"/>
          <p:cNvSpPr/>
          <p:nvPr/>
        </p:nvSpPr>
        <p:spPr>
          <a:xfrm rot="0" flipH="0" flipV="1">
            <a:off x="15487811" y="-4650415"/>
            <a:ext cx="3083865" cy="6949554"/>
          </a:xfrm>
          <a:custGeom>
            <a:avLst/>
            <a:ahLst/>
            <a:rect l="l" t="t" r="r" b="b"/>
            <a:pathLst>
              <a:path w="3083865" h="6949554">
                <a:moveTo>
                  <a:pt x="0" y="6949554"/>
                </a:moveTo>
                <a:lnTo>
                  <a:pt x="3083865" y="6949554"/>
                </a:lnTo>
                <a:lnTo>
                  <a:pt x="3083865" y="0"/>
                </a:lnTo>
                <a:lnTo>
                  <a:pt x="0" y="0"/>
                </a:lnTo>
                <a:lnTo>
                  <a:pt x="0" y="6949554"/>
                </a:lnTo>
                <a:close/>
              </a:path>
            </a:pathLst>
          </a:custGeom>
          <a:blipFill>
            <a:blip xmlns:r="http://schemas.openxmlformats.org/officeDocument/2006/relationships" r:embed="rId8"/>
            <a:stretch>
              <a:fillRect l="0" t="0" r="0" b="0"/>
            </a:stretch>
          </a:blipFill>
        </p:spPr>
      </p:sp>
      <p:sp>
        <p:nvSpPr>
          <p:cNvPr id="1048737" name="TextBox 13"/>
          <p:cNvSpPr txBox="1"/>
          <p:nvPr/>
        </p:nvSpPr>
        <p:spPr>
          <a:xfrm rot="0">
            <a:off x="4248282" y="2759706"/>
            <a:ext cx="9791436" cy="1491539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12177"/>
              </a:lnSpc>
            </a:pPr>
            <a:r>
              <a:rPr sz="8698" lang="en-US">
                <a:solidFill>
                  <a:srgbClr val="6E4823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CONCLUSION</a:t>
            </a:r>
          </a:p>
        </p:txBody>
      </p:sp>
      <p:sp>
        <p:nvSpPr>
          <p:cNvPr id="1048738" name="TextBox 14"/>
          <p:cNvSpPr txBox="1"/>
          <p:nvPr/>
        </p:nvSpPr>
        <p:spPr>
          <a:xfrm rot="0">
            <a:off x="2156509" y="4963827"/>
            <a:ext cx="13974982" cy="2930095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5836"/>
              </a:lnSpc>
            </a:pPr>
            <a:r>
              <a:rPr sz="4169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Using smart grid system in lithium ion battery, it is provided more efficient in lifetime.</a:t>
            </a:r>
          </a:p>
          <a:p>
            <a:pPr algn="ctr">
              <a:lnSpc>
                <a:spcPts val="5836"/>
              </a:lnSpc>
            </a:pPr>
            <a:r>
              <a:rPr sz="4169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increase the life time performance.</a:t>
            </a:r>
          </a:p>
          <a:p>
            <a:pPr algn="ctr">
              <a:lnSpc>
                <a:spcPts val="5836"/>
              </a:lnSpc>
              <a:spcBef>
                <a:spcPct val="0"/>
              </a:spcBef>
            </a:pPr>
            <a:r>
              <a:rPr sz="4169" lang="en-US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Arduino is provided how much charge available.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9" name="Freeform 2"/>
          <p:cNvSpPr/>
          <p:nvPr/>
        </p:nvSpPr>
        <p:spPr>
          <a:xfrm rot="0" flipH="0" flipV="0">
            <a:off x="0" y="0"/>
            <a:ext cx="18288000" cy="10287000"/>
          </a:xfrm>
          <a:custGeom>
            <a:avLst/>
            <a:ah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l="0" t="-38888" r="0" b="-38888"/>
            </a:stretch>
          </a:blipFill>
        </p:spPr>
      </p:sp>
      <p:sp>
        <p:nvSpPr>
          <p:cNvPr id="1048740" name="Freeform 3"/>
          <p:cNvSpPr/>
          <p:nvPr/>
        </p:nvSpPr>
        <p:spPr>
          <a:xfrm rot="-5400000" flipH="0" flipV="0">
            <a:off x="12802904" y="9019220"/>
            <a:ext cx="3465428" cy="3943588"/>
          </a:xfrm>
          <a:custGeom>
            <a:avLst/>
            <a:ahLst/>
            <a:rect l="l" t="t" r="r" b="b"/>
            <a:pathLst>
              <a:path w="3465428" h="3943588">
                <a:moveTo>
                  <a:pt x="0" y="0"/>
                </a:moveTo>
                <a:lnTo>
                  <a:pt x="3465428" y="0"/>
                </a:lnTo>
                <a:lnTo>
                  <a:pt x="3465428" y="3943588"/>
                </a:lnTo>
                <a:lnTo>
                  <a:pt x="0" y="3943588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2"/>
            <a:stretch>
              <a:fillRect l="0" t="0" r="0" b="0"/>
            </a:stretch>
          </a:blipFill>
        </p:spPr>
      </p:sp>
      <p:sp>
        <p:nvSpPr>
          <p:cNvPr id="1048741" name="Freeform 4"/>
          <p:cNvSpPr/>
          <p:nvPr/>
        </p:nvSpPr>
        <p:spPr>
          <a:xfrm rot="0" flipH="0" flipV="0">
            <a:off x="15563882" y="8045750"/>
            <a:ext cx="3390836" cy="3132284"/>
          </a:xfrm>
          <a:custGeom>
            <a:avLst/>
            <a:ahLst/>
            <a:rect l="l" t="t" r="r" b="b"/>
            <a:pathLst>
              <a:path w="3390836" h="3132284">
                <a:moveTo>
                  <a:pt x="0" y="0"/>
                </a:moveTo>
                <a:lnTo>
                  <a:pt x="3390836" y="0"/>
                </a:lnTo>
                <a:lnTo>
                  <a:pt x="3390836" y="3132285"/>
                </a:lnTo>
                <a:lnTo>
                  <a:pt x="0" y="3132285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3"/>
            <a:stretch>
              <a:fillRect l="0" t="0" r="0" b="0"/>
            </a:stretch>
          </a:blipFill>
        </p:spPr>
      </p:sp>
      <p:sp>
        <p:nvSpPr>
          <p:cNvPr id="1048742" name="Freeform 5"/>
          <p:cNvSpPr/>
          <p:nvPr/>
        </p:nvSpPr>
        <p:spPr>
          <a:xfrm rot="735098" flipH="0" flipV="0">
            <a:off x="17012790" y="5558490"/>
            <a:ext cx="2550420" cy="2355951"/>
          </a:xfrm>
          <a:custGeom>
            <a:avLst/>
            <a:ahLst/>
            <a:rect l="l" t="t" r="r" b="b"/>
            <a:pathLst>
              <a:path w="2550420" h="2355951">
                <a:moveTo>
                  <a:pt x="0" y="0"/>
                </a:moveTo>
                <a:lnTo>
                  <a:pt x="2550420" y="0"/>
                </a:lnTo>
                <a:lnTo>
                  <a:pt x="2550420" y="2355951"/>
                </a:lnTo>
                <a:lnTo>
                  <a:pt x="0" y="2355951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3"/>
            <a:stretch>
              <a:fillRect l="0" t="0" r="0" b="0"/>
            </a:stretch>
          </a:blipFill>
        </p:spPr>
      </p:sp>
      <p:sp>
        <p:nvSpPr>
          <p:cNvPr id="1048743" name="Freeform 6"/>
          <p:cNvSpPr/>
          <p:nvPr/>
        </p:nvSpPr>
        <p:spPr>
          <a:xfrm rot="3880940" flipH="1" flipV="0">
            <a:off x="-859658" y="693803"/>
            <a:ext cx="3227254" cy="4927105"/>
          </a:xfrm>
          <a:custGeom>
            <a:avLst/>
            <a:ahLst/>
            <a:rect l="l" t="t" r="r" b="b"/>
            <a:pathLst>
              <a:path w="3227254" h="4927105">
                <a:moveTo>
                  <a:pt x="3227254" y="0"/>
                </a:moveTo>
                <a:lnTo>
                  <a:pt x="0" y="0"/>
                </a:lnTo>
                <a:lnTo>
                  <a:pt x="0" y="4927105"/>
                </a:lnTo>
                <a:lnTo>
                  <a:pt x="3227254" y="4927105"/>
                </a:lnTo>
                <a:lnTo>
                  <a:pt x="3227254" y="0"/>
                </a:lnTo>
                <a:close/>
              </a:path>
            </a:pathLst>
          </a:custGeom>
          <a:blipFill>
            <a:blip xmlns:r="http://schemas.openxmlformats.org/officeDocument/2006/relationships" r:embed="rId4"/>
            <a:stretch>
              <a:fillRect l="0" t="0" r="0" b="0"/>
            </a:stretch>
          </a:blipFill>
        </p:spPr>
      </p:sp>
      <p:sp>
        <p:nvSpPr>
          <p:cNvPr id="1048744" name="Freeform 7"/>
          <p:cNvSpPr/>
          <p:nvPr/>
        </p:nvSpPr>
        <p:spPr>
          <a:xfrm rot="2700000" flipH="1" flipV="0">
            <a:off x="-367506" y="-2305346"/>
            <a:ext cx="1826987" cy="4610693"/>
          </a:xfrm>
          <a:custGeom>
            <a:avLst/>
            <a:ahLst/>
            <a:rect l="l" t="t" r="r" b="b"/>
            <a:pathLst>
              <a:path w="1826987" h="4610693">
                <a:moveTo>
                  <a:pt x="1826987" y="0"/>
                </a:moveTo>
                <a:lnTo>
                  <a:pt x="0" y="0"/>
                </a:lnTo>
                <a:lnTo>
                  <a:pt x="0" y="4610692"/>
                </a:lnTo>
                <a:lnTo>
                  <a:pt x="1826987" y="4610692"/>
                </a:lnTo>
                <a:lnTo>
                  <a:pt x="1826987" y="0"/>
                </a:lnTo>
                <a:close/>
              </a:path>
            </a:pathLst>
          </a:custGeom>
          <a:blipFill>
            <a:blip xmlns:r="http://schemas.openxmlformats.org/officeDocument/2006/relationships" r:embed="rId5"/>
            <a:stretch>
              <a:fillRect l="0" t="0" r="0" b="0"/>
            </a:stretch>
          </a:blipFill>
        </p:spPr>
      </p:sp>
      <p:sp>
        <p:nvSpPr>
          <p:cNvPr id="1048745" name="Freeform 8"/>
          <p:cNvSpPr/>
          <p:nvPr/>
        </p:nvSpPr>
        <p:spPr>
          <a:xfrm rot="8862344" flipH="0" flipV="0">
            <a:off x="2042299" y="-3686438"/>
            <a:ext cx="5543601" cy="5399367"/>
          </a:xfrm>
          <a:custGeom>
            <a:avLst/>
            <a:ahLst/>
            <a:rect l="l" t="t" r="r" b="b"/>
            <a:pathLst>
              <a:path w="5543601" h="5399367">
                <a:moveTo>
                  <a:pt x="0" y="0"/>
                </a:moveTo>
                <a:lnTo>
                  <a:pt x="5543601" y="0"/>
                </a:lnTo>
                <a:lnTo>
                  <a:pt x="5543601" y="5399367"/>
                </a:lnTo>
                <a:lnTo>
                  <a:pt x="0" y="5399367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6"/>
            <a:stretch>
              <a:fillRect l="0" t="0" r="0" b="0"/>
            </a:stretch>
          </a:blipFill>
        </p:spPr>
      </p:sp>
      <p:sp>
        <p:nvSpPr>
          <p:cNvPr id="1048746" name="Freeform 9"/>
          <p:cNvSpPr/>
          <p:nvPr/>
        </p:nvSpPr>
        <p:spPr>
          <a:xfrm rot="0" flipH="0" flipV="0">
            <a:off x="11233907" y="-4481194"/>
            <a:ext cx="8550234" cy="8229600"/>
          </a:xfrm>
          <a:custGeom>
            <a:avLst/>
            <a:ahLst/>
            <a:rect l="l" t="t" r="r" b="b"/>
            <a:pathLst>
              <a:path w="8550234" h="8229600">
                <a:moveTo>
                  <a:pt x="0" y="0"/>
                </a:moveTo>
                <a:lnTo>
                  <a:pt x="8550233" y="0"/>
                </a:lnTo>
                <a:lnTo>
                  <a:pt x="855023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7"/>
            <a:stretch>
              <a:fillRect l="0" t="0" r="0" b="0"/>
            </a:stretch>
          </a:blipFill>
        </p:spPr>
      </p:sp>
      <p:sp>
        <p:nvSpPr>
          <p:cNvPr id="1048747" name="Freeform 10"/>
          <p:cNvSpPr/>
          <p:nvPr/>
        </p:nvSpPr>
        <p:spPr>
          <a:xfrm rot="0" flipH="0" flipV="0">
            <a:off x="-3054723" y="7063235"/>
            <a:ext cx="8550234" cy="8229600"/>
          </a:xfrm>
          <a:custGeom>
            <a:avLst/>
            <a:ahLst/>
            <a:rect l="l" t="t" r="r" b="b"/>
            <a:pathLst>
              <a:path w="8550234" h="8229600">
                <a:moveTo>
                  <a:pt x="0" y="0"/>
                </a:moveTo>
                <a:lnTo>
                  <a:pt x="8550234" y="0"/>
                </a:lnTo>
                <a:lnTo>
                  <a:pt x="855023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7"/>
            <a:stretch>
              <a:fillRect l="0" t="0" r="0" b="0"/>
            </a:stretch>
          </a:blipFill>
        </p:spPr>
      </p:sp>
      <p:sp>
        <p:nvSpPr>
          <p:cNvPr id="1048748" name="Freeform 11"/>
          <p:cNvSpPr/>
          <p:nvPr/>
        </p:nvSpPr>
        <p:spPr>
          <a:xfrm rot="0" flipH="0" flipV="0">
            <a:off x="-256763" y="7383999"/>
            <a:ext cx="3651885" cy="8229600"/>
          </a:xfrm>
          <a:custGeom>
            <a:avLst/>
            <a:ahLst/>
            <a:rect l="l" t="t" r="r" b="b"/>
            <a:pathLst>
              <a:path w="3651885" h="8229600">
                <a:moveTo>
                  <a:pt x="0" y="0"/>
                </a:moveTo>
                <a:lnTo>
                  <a:pt x="3651885" y="0"/>
                </a:lnTo>
                <a:lnTo>
                  <a:pt x="365188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8"/>
            <a:stretch>
              <a:fillRect l="0" t="0" r="0" b="0"/>
            </a:stretch>
          </a:blipFill>
        </p:spPr>
      </p:sp>
      <p:sp>
        <p:nvSpPr>
          <p:cNvPr id="1048749" name="Freeform 12"/>
          <p:cNvSpPr/>
          <p:nvPr/>
        </p:nvSpPr>
        <p:spPr>
          <a:xfrm rot="0" flipH="0" flipV="1">
            <a:off x="14301621" y="-5072245"/>
            <a:ext cx="3651885" cy="8229600"/>
          </a:xfrm>
          <a:custGeom>
            <a:avLst/>
            <a:ahLst/>
            <a:rect l="l" t="t" r="r" b="b"/>
            <a:pathLst>
              <a:path w="3651885" h="8229600">
                <a:moveTo>
                  <a:pt x="0" y="8229600"/>
                </a:moveTo>
                <a:lnTo>
                  <a:pt x="3651885" y="8229600"/>
                </a:lnTo>
                <a:lnTo>
                  <a:pt x="3651885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xmlns:r="http://schemas.openxmlformats.org/officeDocument/2006/relationships" r:embed="rId8"/>
            <a:stretch>
              <a:fillRect l="0" t="0" r="0" b="0"/>
            </a:stretch>
          </a:blipFill>
        </p:spPr>
      </p:sp>
      <p:sp>
        <p:nvSpPr>
          <p:cNvPr id="1048750" name="TextBox 13"/>
          <p:cNvSpPr txBox="1"/>
          <p:nvPr/>
        </p:nvSpPr>
        <p:spPr>
          <a:xfrm rot="0">
            <a:off x="2807931" y="3010189"/>
            <a:ext cx="12672137" cy="4809071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18651"/>
              </a:lnSpc>
            </a:pPr>
            <a:r>
              <a:rPr sz="17431" lang="en-US">
                <a:solidFill>
                  <a:srgbClr val="6E4823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Green Leaves Background Watercolor Presentation</dc:title>
  <dc:creator>RMX3171</dc:creator>
  <dcterms:created xsi:type="dcterms:W3CDTF">2006-08-15T13:00:00Z</dcterms:created>
  <dcterms:modified xsi:type="dcterms:W3CDTF">2025-01-23T03:22:42Z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7b27ede2c3aa4a36a6fdb30342bf20b6</vt:lpwstr>
  </property>
</Properties>
</file>